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una comparación práctica de cuatro tecnologías frontend. La idea es mantener la misma aplicación y observar cómo cambia su implementación y la respuesta de la interfaz. React se incluye como biblioteca de UI, junto con los otros frameworks. Duración sugerida: 20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InventoryPro es una aplicación de inventario con dashboard, tabla y formulario. Las cuatro versiones ofrecen las mismas operaciones. Los datos se generan localmente y con semilla fija; no interviene una API ni una base de datos. La imagen corresponde a la versión React. Duración sugerida: 25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organiza la UI con componentes y estado. Vue utiliza refs y propiedades calculadas. Angular emplea signals en esta implementación. Svelte usa runes y compila los componentes. Estas diferencias no permiten afirmar por sí solas cuál es más rápido: eso depende del escenario y debe medirse. Duración sugerida: 35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metodología evita cambiar varias cosas a la vez. Los datos y las operaciones son equivalentes, aunque el motor reactivo cambia. Usamos producción, el mismo equipo y al menos cinco repeticiones. Limpiar antes de insertar permite comparar el montaje desde cero; insertar dos veces el mismo conjunto puede reutilizar filas existentes. Duración sugerida: 30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latencia de una interacción incluye retraso de entrada, procesamiento y presentación hasta el siguiente pintado. El panel de INP muestra una métrica de la sesión y no necesariamente la última interacción. Para comparar cada inserción, grabo Performance y selecciono su clic en Interactions. También reviso Scripting, Rendering, Painting y tareas largas. No se están midiendo tiempos de descarga ni carga inicial. Duración sugerida: 35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pruebas del proyecto confirmaron compilación y operaciones funcionales en las cuatro versiones. Eso no demuestra que un framework tenga mejor rendimiento que otro. La conclusión de rendimiento debe limitarse a los escenarios y al equipo de las mediciones. La paginación reduce las filas montadas y es otro escenario válido para comparar. Duración sugerida: 25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Paso a la demostración. Primero muestro que las cuatro aplicaciones tienen las mismas funciones. Luego realizo el flujo limpiar e insertar con todas las filas y observo el evento en Performance. Si el tiempo lo permite, repito búsqueda y paginación. Los valores obtenidos en vivo son ilustrativos; para resultados formales uso las medianas de varias repeticiones. Duración sugerida: 15 segundos antes de abrir las aplicaciones.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"/>
            <a:ext cx="1188720" cy="4106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274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3718A"/>
                </a:solidFill>
                <a:latin typeface="Aptos"/>
              </a:defRPr>
            </a:pPr>
            <a:r>
              <a:t>INGENIERÍA DE SISTEMAS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321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18243B"/>
                </a:solidFill>
                <a:latin typeface="Aptos"/>
              </a:defRPr>
            </a:pPr>
            <a:r>
              <a:t>Una aplicación. Cuatro formas de construirla.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58191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3718A"/>
                </a:solidFill>
                <a:latin typeface="Aptos"/>
              </a:defRPr>
            </a:pPr>
            <a:r>
              <a:t>Comparación de React, Vue, Angular y Svelte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80060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3718A"/>
                </a:solidFill>
                <a:latin typeface="Aptos"/>
              </a:defRPr>
            </a:pPr>
            <a:r>
              <a:t>InventoryPro · Comparación de tecnologías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731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3718A"/>
                </a:solidFill>
                <a:latin typeface="Aptos"/>
              </a:defRPr>
            </a:pPr>
            <a:r>
              <a:t>1/7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8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600" b="1">
                <a:solidFill>
                  <a:srgbClr val="18243B"/>
                </a:solidFill>
                <a:latin typeface="Aptos"/>
              </a:defRPr>
            </a:pPr>
            <a:r>
              <a:t>¿Cómo cambia la respuesta de la interfaz</a:t>
            </a:r>
          </a:p>
          <a:p>
            <a:pPr>
              <a:spcAft>
                <a:spcPts val="800"/>
              </a:spcAft>
              <a:defRPr sz="2600" b="1">
                <a:solidFill>
                  <a:srgbClr val="18243B"/>
                </a:solidFill>
                <a:latin typeface="Aptos"/>
              </a:defRPr>
            </a:pPr>
            <a:r>
              <a:t>al implementar el mismo inventario?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20440"/>
            <a:ext cx="1938528" cy="5303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59359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React 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3520440"/>
            <a:ext cx="1938528" cy="5303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79" y="359359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Vue 3.5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520440"/>
            <a:ext cx="1938528" cy="5303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359359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Angular 19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59" y="3520440"/>
            <a:ext cx="1938528" cy="5303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359359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Svelte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519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3718A"/>
                </a:solidFill>
                <a:latin typeface="Aptos"/>
              </a:defRPr>
            </a:pPr>
            <a:r>
              <a:t>Angello Aroni · Presentación del proyecto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"/>
            <a:ext cx="1188720" cy="4106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274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3718A"/>
                </a:solidFill>
                <a:latin typeface="Aptos"/>
              </a:defRPr>
            </a:pPr>
            <a:r>
              <a:t>INGENIERÍA DE SISTEMAS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321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18243B"/>
                </a:solidFill>
                <a:latin typeface="Aptos"/>
              </a:defRPr>
            </a:pPr>
            <a:r>
              <a:t>El caso de estudio: InventoryPro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58191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3718A"/>
                </a:solidFill>
                <a:latin typeface="Aptos"/>
              </a:defRPr>
            </a:pPr>
            <a:r>
              <a:t>Mismo inventario y mismas operaciones en las cuatro versiones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80060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3718A"/>
                </a:solidFill>
                <a:latin typeface="Aptos"/>
              </a:defRPr>
            </a:pPr>
            <a:r>
              <a:t>InventoryPro · Comparación de tecnologías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731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3718A"/>
                </a:solidFill>
                <a:latin typeface="Aptos"/>
              </a:defRPr>
            </a:pPr>
            <a:r>
              <a:t>2/7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8243B"/>
                </a:solidFill>
                <a:latin typeface="Aptos"/>
              </a:defRPr>
            </a:pPr>
            <a:r>
              <a:t>Consultar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3718A"/>
                </a:solidFill>
                <a:latin typeface="Aptos"/>
              </a:defRPr>
            </a:pPr>
            <a:r>
              <a:t>Buscar, filtrar, ordenar y paginar.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4436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8243B"/>
                </a:solidFill>
                <a:latin typeface="Aptos"/>
              </a:defRPr>
            </a:pPr>
            <a:r>
              <a:t>Gestionar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36975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3718A"/>
                </a:solidFill>
                <a:latin typeface="Aptos"/>
              </a:defRPr>
            </a:pPr>
            <a:r>
              <a:t>Crear, editar y eliminar productos.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9417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8243B"/>
                </a:solidFill>
                <a:latin typeface="Aptos"/>
              </a:defRPr>
            </a:pPr>
            <a:r>
              <a:t>Exigir a la interfaz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98678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3718A"/>
                </a:solidFill>
                <a:latin typeface="Aptos"/>
              </a:defRPr>
            </a:pPr>
            <a:r>
              <a:t>Mostrar 1.000, 2.000 o 5.000 filas.</a:t>
            </a:r>
          </a:p>
        </p:txBody>
      </p:sp>
      <p:pic>
        <p:nvPicPr>
          <p:cNvPr id="15" name="Picture 14" descr="inventoryp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2121408"/>
            <a:ext cx="493776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"/>
            <a:ext cx="1188720" cy="4106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274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3718A"/>
                </a:solidFill>
                <a:latin typeface="Aptos"/>
              </a:defRPr>
            </a:pPr>
            <a:r>
              <a:t>INGENIERÍA DE SISTEMAS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321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18243B"/>
                </a:solidFill>
                <a:latin typeface="Aptos"/>
              </a:defRPr>
            </a:pPr>
            <a:r>
              <a:t>¿Qué cambia entre implementaciones?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58191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3718A"/>
                </a:solidFill>
                <a:latin typeface="Aptos"/>
              </a:defRPr>
            </a:pPr>
            <a:r>
              <a:t>La diferencia principal está en la capa de interfaz y su reactividad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80060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3718A"/>
                </a:solidFill>
                <a:latin typeface="Aptos"/>
              </a:defRPr>
            </a:pPr>
            <a:r>
              <a:t>InventoryPro · Comparación de tecnologías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731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3718A"/>
                </a:solidFill>
                <a:latin typeface="Aptos"/>
              </a:defRPr>
            </a:pPr>
            <a:r>
              <a:t>3/7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94560"/>
            <a:ext cx="2057400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" y="2350008"/>
            <a:ext cx="1810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4F46E5"/>
                </a:solidFill>
                <a:latin typeface="Aptos"/>
              </a:defRPr>
            </a:pPr>
            <a:r>
              <a:t>React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" y="2770632"/>
            <a:ext cx="1810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3718A"/>
                </a:solidFill>
                <a:latin typeface="Aptos"/>
              </a:defRPr>
            </a:pPr>
            <a:r>
              <a:t>Biblioteca de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" y="3154680"/>
            <a:ext cx="181051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18243B"/>
                </a:solidFill>
                <a:latin typeface="Aptos"/>
              </a:defRPr>
            </a:pPr>
            <a:r>
              <a:t>useState y useMemo</a:t>
            </a:r>
          </a:p>
          <a:p>
            <a:pPr>
              <a:spcAft>
                <a:spcPts val="800"/>
              </a:spcAft>
              <a:defRPr sz="1200" b="0">
                <a:solidFill>
                  <a:srgbClr val="18243B"/>
                </a:solidFill>
                <a:latin typeface="Aptos"/>
              </a:defRPr>
            </a:pPr>
            <a:r>
              <a:t>Componentes con JSX</a:t>
            </a:r>
          </a:p>
          <a:p>
            <a:pPr>
              <a:spcAft>
                <a:spcPts val="800"/>
              </a:spcAft>
              <a:defRPr sz="1200" b="0">
                <a:solidFill>
                  <a:srgbClr val="18243B"/>
                </a:solidFill>
                <a:latin typeface="Aptos"/>
              </a:defRPr>
            </a:pPr>
            <a:r>
              <a:t>Reconciliación del DOM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2194560"/>
            <a:ext cx="2057400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34056" y="2350008"/>
            <a:ext cx="1810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4F46E5"/>
                </a:solidFill>
                <a:latin typeface="Aptos"/>
              </a:defRPr>
            </a:pPr>
            <a:r>
              <a:t>Vue 3.5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2770632"/>
            <a:ext cx="1810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3718A"/>
                </a:solidFill>
                <a:latin typeface="Aptos"/>
              </a:defRPr>
            </a:pPr>
            <a:r>
              <a:t>Framework progresivo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4056" y="3154680"/>
            <a:ext cx="181051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18243B"/>
                </a:solidFill>
                <a:latin typeface="Aptos"/>
              </a:defRPr>
            </a:pPr>
            <a:r>
              <a:t>ref y computed</a:t>
            </a:r>
          </a:p>
          <a:p>
            <a:pPr>
              <a:spcAft>
                <a:spcPts val="800"/>
              </a:spcAft>
              <a:defRPr sz="1200" b="0">
                <a:solidFill>
                  <a:srgbClr val="18243B"/>
                </a:solidFill>
                <a:latin typeface="Aptos"/>
              </a:defRPr>
            </a:pPr>
            <a:r>
              <a:t>Templates en archivos .vue</a:t>
            </a:r>
          </a:p>
          <a:p>
            <a:pPr>
              <a:spcAft>
                <a:spcPts val="800"/>
              </a:spcAft>
              <a:defRPr sz="1200" b="0">
                <a:solidFill>
                  <a:srgbClr val="18243B"/>
                </a:solidFill>
                <a:latin typeface="Aptos"/>
              </a:defRPr>
            </a:pPr>
            <a:r>
              <a:t>Reactividad con proxies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0600" y="2194560"/>
            <a:ext cx="2057400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2350008"/>
            <a:ext cx="1810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4F46E5"/>
                </a:solidFill>
                <a:latin typeface="Aptos"/>
              </a:defRPr>
            </a:pPr>
            <a:r>
              <a:t>Angular 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28616" y="2770632"/>
            <a:ext cx="1810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3718A"/>
                </a:solidFill>
                <a:latin typeface="Aptos"/>
              </a:defRPr>
            </a:pPr>
            <a:r>
              <a:t>Framework integral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28616" y="3154680"/>
            <a:ext cx="181051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18243B"/>
                </a:solidFill>
                <a:latin typeface="Aptos"/>
              </a:defRPr>
            </a:pPr>
            <a:r>
              <a:t>Signals y computed</a:t>
            </a:r>
          </a:p>
          <a:p>
            <a:pPr>
              <a:spcAft>
                <a:spcPts val="800"/>
              </a:spcAft>
              <a:defRPr sz="1200" b="0">
                <a:solidFill>
                  <a:srgbClr val="18243B"/>
                </a:solidFill>
                <a:latin typeface="Aptos"/>
              </a:defRPr>
            </a:pPr>
            <a:r>
              <a:t>Componentes standalone</a:t>
            </a:r>
          </a:p>
          <a:p>
            <a:pPr>
              <a:spcAft>
                <a:spcPts val="800"/>
              </a:spcAft>
              <a:defRPr sz="1200" b="0">
                <a:solidFill>
                  <a:srgbClr val="18243B"/>
                </a:solidFill>
                <a:latin typeface="Aptos"/>
              </a:defRPr>
            </a:pPr>
            <a:r>
              <a:t>Templates y TypeScript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95159" y="2194560"/>
            <a:ext cx="2057400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3175" y="2350008"/>
            <a:ext cx="1810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4F46E5"/>
                </a:solidFill>
                <a:latin typeface="Aptos"/>
              </a:defRPr>
            </a:pPr>
            <a:r>
              <a:t>Svelte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23175" y="2770632"/>
            <a:ext cx="1810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3718A"/>
                </a:solidFill>
                <a:latin typeface="Aptos"/>
              </a:defRPr>
            </a:pPr>
            <a:r>
              <a:t>Framework con compilador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5" y="3154680"/>
            <a:ext cx="181051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18243B"/>
                </a:solidFill>
                <a:latin typeface="Aptos"/>
              </a:defRPr>
            </a:pPr>
            <a:r>
              <a:t>$state y $derived</a:t>
            </a:r>
          </a:p>
          <a:p>
            <a:pPr>
              <a:spcAft>
                <a:spcPts val="800"/>
              </a:spcAft>
              <a:defRPr sz="1200" b="0">
                <a:solidFill>
                  <a:srgbClr val="18243B"/>
                </a:solidFill>
                <a:latin typeface="Aptos"/>
              </a:defRPr>
            </a:pPr>
            <a:r>
              <a:t>Componentes .svelte</a:t>
            </a:r>
          </a:p>
          <a:p>
            <a:pPr>
              <a:spcAft>
                <a:spcPts val="800"/>
              </a:spcAft>
              <a:defRPr sz="1200" b="0">
                <a:solidFill>
                  <a:srgbClr val="18243B"/>
                </a:solidFill>
                <a:latin typeface="Aptos"/>
              </a:defRPr>
            </a:pPr>
            <a:r>
              <a:t>Código generado al compilar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"/>
            <a:ext cx="1188720" cy="4106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274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3718A"/>
                </a:solidFill>
                <a:latin typeface="Aptos"/>
              </a:defRPr>
            </a:pPr>
            <a:r>
              <a:t>INGENIERÍA DE SISTEMAS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321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18243B"/>
                </a:solidFill>
                <a:latin typeface="Aptos"/>
              </a:defRPr>
            </a:pPr>
            <a:r>
              <a:t>Una comparación bajo las mismas condiciones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58191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3718A"/>
                </a:solidFill>
                <a:latin typeface="Aptos"/>
              </a:defRPr>
            </a:pPr>
            <a:r>
              <a:t>Controlar el escenario antes de comparar los tiempos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80060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3718A"/>
                </a:solidFill>
                <a:latin typeface="Aptos"/>
              </a:defRPr>
            </a:pPr>
            <a:r>
              <a:t>InventoryPro · Comparación de tecnologías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731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3718A"/>
                </a:solidFill>
                <a:latin typeface="Aptos"/>
              </a:defRPr>
            </a:pPr>
            <a:r>
              <a:t>4/7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48840"/>
            <a:ext cx="36576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" y="2162556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8243B"/>
                </a:solidFill>
                <a:latin typeface="Aptos"/>
              </a:defRPr>
            </a:pPr>
            <a:r>
              <a:t>Mismos datos y funciones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21488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3718A"/>
                </a:solidFill>
                <a:latin typeface="Aptos"/>
              </a:defRPr>
            </a:pPr>
            <a:r>
              <a:t>Semilla fija, reglas de negocio y operaciones equivalentes.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24912"/>
            <a:ext cx="36576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27386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724912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8243B"/>
                </a:solidFill>
                <a:latin typeface="Aptos"/>
              </a:defRPr>
            </a:pPr>
            <a:r>
              <a:t>Mismo entorno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72491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3718A"/>
                </a:solidFill>
                <a:latin typeface="Aptos"/>
              </a:defRPr>
            </a:pPr>
            <a:r>
              <a:t>Laptop, navegador y configuración de CPU iguales.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00984"/>
            <a:ext cx="36576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3147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300984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8243B"/>
                </a:solidFill>
                <a:latin typeface="Aptos"/>
              </a:defRPr>
            </a:pPr>
            <a:r>
              <a:t>Builds de producción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300984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3718A"/>
                </a:solidFill>
                <a:latin typeface="Aptos"/>
              </a:defRPr>
            </a:pPr>
            <a:r>
              <a:t>Evitar el trabajo adicional del modo de desarrollo.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77056"/>
            <a:ext cx="36576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" y="38907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877056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8243B"/>
                </a:solidFill>
                <a:latin typeface="Aptos"/>
              </a:defRPr>
            </a:pPr>
            <a:r>
              <a:t>Repeticiones comparables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877056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3718A"/>
                </a:solidFill>
                <a:latin typeface="Aptos"/>
              </a:defRPr>
            </a:pPr>
            <a:r>
              <a:t>Limpiar → insertar; 5 pruebas por caso y comparar la mediana.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"/>
            <a:ext cx="1188720" cy="4106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274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3718A"/>
                </a:solidFill>
                <a:latin typeface="Aptos"/>
              </a:defRPr>
            </a:pPr>
            <a:r>
              <a:t>INGENIERÍA DE SISTEMAS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321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18243B"/>
                </a:solidFill>
                <a:latin typeface="Aptos"/>
              </a:defRPr>
            </a:pPr>
            <a:r>
              <a:t>Medición: F12 →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58191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3718A"/>
                </a:solidFill>
                <a:latin typeface="Aptos"/>
              </a:defRPr>
            </a:pPr>
            <a:r>
              <a:t>Registrar una interacción concreta, no confundirla con la carga inicial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80060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3718A"/>
                </a:solidFill>
                <a:latin typeface="Aptos"/>
              </a:defRPr>
            </a:pPr>
            <a:r>
              <a:t>InventoryPro · Comparación de tecnologías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731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3718A"/>
                </a:solidFill>
                <a:latin typeface="Aptos"/>
              </a:defRPr>
            </a:pPr>
            <a:r>
              <a:t>5/7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6060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4F46E5"/>
                </a:solidFill>
                <a:latin typeface="Aptos"/>
              </a:defRPr>
            </a:pPr>
            <a:r>
              <a:t>Entrada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852928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18243B"/>
                </a:solidFill>
                <a:latin typeface="Aptos"/>
              </a:defRPr>
            </a:pPr>
            <a:r>
              <a:t>Espera antes de ejecutar</a:t>
            </a:r>
          </a:p>
          <a:p>
            <a:pPr>
              <a:spcAft>
                <a:spcPts val="800"/>
              </a:spcAft>
              <a:defRPr sz="1300" b="0">
                <a:solidFill>
                  <a:srgbClr val="18243B"/>
                </a:solidFill>
                <a:latin typeface="Aptos"/>
              </a:defRPr>
            </a:pPr>
            <a:r>
              <a:t>el manejador del evento.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2240280"/>
            <a:ext cx="26060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4F46E5"/>
                </a:solidFill>
                <a:latin typeface="Aptos"/>
              </a:defRPr>
            </a:pPr>
            <a:r>
              <a:t>Procesamiento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852928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18243B"/>
                </a:solidFill>
                <a:latin typeface="Aptos"/>
              </a:defRPr>
            </a:pPr>
            <a:r>
              <a:t>JavaScript y actualización</a:t>
            </a:r>
          </a:p>
          <a:p>
            <a:pPr>
              <a:spcAft>
                <a:spcPts val="800"/>
              </a:spcAft>
              <a:defRPr sz="1300" b="0">
                <a:solidFill>
                  <a:srgbClr val="18243B"/>
                </a:solidFill>
                <a:latin typeface="Aptos"/>
              </a:defRPr>
            </a:pPr>
            <a:r>
              <a:t>del estado de la aplicación.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9904" y="2240280"/>
            <a:ext cx="26060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4496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4F46E5"/>
                </a:solidFill>
                <a:latin typeface="Aptos"/>
              </a:defRPr>
            </a:pPr>
            <a:r>
              <a:t>Presentación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2852928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18243B"/>
                </a:solidFill>
                <a:latin typeface="Aptos"/>
              </a:defRPr>
            </a:pPr>
            <a:r>
              <a:t>Trabajo restante hasta</a:t>
            </a:r>
          </a:p>
          <a:p>
            <a:pPr>
              <a:spcAft>
                <a:spcPts val="800"/>
              </a:spcAft>
              <a:defRPr sz="1300" b="0">
                <a:solidFill>
                  <a:srgbClr val="18243B"/>
                </a:solidFill>
                <a:latin typeface="Aptos"/>
              </a:defRPr>
            </a:pPr>
            <a:r>
              <a:t>el siguiente pintado.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8229600" cy="786384"/>
          </a:xfrm>
          <a:prstGeom prst="roundRect">
            <a:avLst/>
          </a:prstGeom>
          <a:solidFill>
            <a:srgbClr val="18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31336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Aptos"/>
              </a:defRPr>
            </a:pPr>
            <a:r>
              <a:t>INP resume la respuesta de las interacciones de la sesión.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Aptos"/>
              </a:defRPr>
            </a:pPr>
            <a:r>
              <a:t>Para cada prueba, seleccionar su evento en la pista «Interactions».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"/>
            <a:ext cx="1188720" cy="4106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274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3718A"/>
                </a:solidFill>
                <a:latin typeface="Aptos"/>
              </a:defRPr>
            </a:pPr>
            <a:r>
              <a:t>INGENIERÍA DE SISTEMAS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321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18243B"/>
                </a:solidFill>
                <a:latin typeface="Aptos"/>
              </a:defRPr>
            </a:pPr>
            <a:r>
              <a:t>Qué está verificado y qué falta medir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58191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3718A"/>
                </a:solidFill>
                <a:latin typeface="Aptos"/>
              </a:defRPr>
            </a:pPr>
            <a:r>
              <a:t>Separar el funcionamiento del proyecto de los resultados de rendimiento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80060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3718A"/>
                </a:solidFill>
                <a:latin typeface="Aptos"/>
              </a:defRPr>
            </a:pPr>
            <a:r>
              <a:t>InventoryPro · Comparación de tecnologías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731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3718A"/>
                </a:solidFill>
                <a:latin typeface="Aptos"/>
              </a:defRPr>
            </a:pPr>
            <a:r>
              <a:t>6/7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3977639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4F46E5"/>
                </a:solidFill>
                <a:latin typeface="Aptos"/>
              </a:defRPr>
            </a:pPr>
            <a:r>
              <a:t>Funcionamiento verificado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3611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8243B"/>
                </a:solidFill>
                <a:latin typeface="Aptos"/>
              </a:defRPr>
            </a:pPr>
            <a:r>
              <a:t>Las cuatro versiones compilan.</a:t>
            </a:r>
          </a:p>
          <a:p>
            <a:pPr>
              <a:spcAft>
                <a:spcPts val="800"/>
              </a:spcAft>
              <a:defRPr sz="1400" b="0">
                <a:solidFill>
                  <a:srgbClr val="18243B"/>
                </a:solidFill>
                <a:latin typeface="Aptos"/>
              </a:defRPr>
            </a:pPr>
            <a:r>
              <a:t>Búsqueda, validación y creación funcionan.</a:t>
            </a:r>
          </a:p>
          <a:p>
            <a:pPr>
              <a:spcAft>
                <a:spcPts val="800"/>
              </a:spcAft>
              <a:defRPr sz="1400" b="0">
                <a:solidFill>
                  <a:srgbClr val="18243B"/>
                </a:solidFill>
                <a:latin typeface="Aptos"/>
              </a:defRPr>
            </a:pPr>
            <a:r>
              <a:t>Limpiar y reinsertar 5.000 registros funciona.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194560"/>
            <a:ext cx="40233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4F46E5"/>
                </a:solidFill>
                <a:latin typeface="Aptos"/>
              </a:defRPr>
            </a:pPr>
            <a:r>
              <a:t>Comparación pendiente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944368"/>
            <a:ext cx="3657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8243B"/>
                </a:solidFill>
                <a:latin typeface="Aptos"/>
              </a:defRPr>
            </a:pPr>
            <a:r>
              <a:t>Medir cada escenario en producción.</a:t>
            </a:r>
          </a:p>
          <a:p>
            <a:pPr>
              <a:spcAft>
                <a:spcPts val="800"/>
              </a:spcAft>
              <a:defRPr sz="1500" b="0">
                <a:solidFill>
                  <a:srgbClr val="18243B"/>
                </a:solidFill>
                <a:latin typeface="Aptos"/>
              </a:defRPr>
            </a:pPr>
            <a:r>
              <a:t>Contrastar todas las filas con paginación.</a:t>
            </a:r>
          </a:p>
          <a:p>
            <a:pPr>
              <a:spcAft>
                <a:spcPts val="800"/>
              </a:spcAft>
              <a:defRPr sz="1500" b="0">
                <a:solidFill>
                  <a:srgbClr val="18243B"/>
                </a:solidFill>
                <a:latin typeface="Aptos"/>
              </a:defRPr>
            </a:pPr>
            <a:r>
              <a:t>No asignar un ganador sin resultados.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"/>
            <a:ext cx="1188720" cy="4106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274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3718A"/>
                </a:solidFill>
                <a:latin typeface="Aptos"/>
              </a:defRPr>
            </a:pPr>
            <a:r>
              <a:t>INGENIERÍA DE SISTEMAS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321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18243B"/>
                </a:solidFill>
                <a:latin typeface="Aptos"/>
              </a:defRPr>
            </a:pPr>
            <a:r>
              <a:t>Ahora: los cuatro frameworks en 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58191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3718A"/>
                </a:solidFill>
                <a:latin typeface="Aptos"/>
              </a:defRPr>
            </a:pPr>
            <a:r>
              <a:t>Demostración en vivo · mismo flujo para cada implementación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80060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3718A"/>
                </a:solidFill>
                <a:latin typeface="Aptos"/>
              </a:defRPr>
            </a:pPr>
            <a:r>
              <a:t>InventoryPro · Comparación de tecnologías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731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3718A"/>
                </a:solidFill>
                <a:latin typeface="Aptos"/>
              </a:defRPr>
            </a:pPr>
            <a:r>
              <a:t>7/7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4F46E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48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8243B"/>
                </a:solidFill>
                <a:latin typeface="Aptos"/>
              </a:defRPr>
            </a:pPr>
            <a:r>
              <a:t>Preparar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148840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3718A"/>
                </a:solidFill>
                <a:latin typeface="Aptos"/>
              </a:defRPr>
            </a:pPr>
            <a:r>
              <a:t>Elegir «Todas las filas» y limpiar los registros.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06624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4F46E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0662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8243B"/>
                </a:solidFill>
                <a:latin typeface="Aptos"/>
              </a:defRPr>
            </a:pPr>
            <a:r>
              <a:t>Registrar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706624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3718A"/>
                </a:solidFill>
                <a:latin typeface="Aptos"/>
              </a:defRPr>
            </a:pPr>
            <a:r>
              <a:t>Iniciar la grabación en F12 → Performance.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6440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4F46E5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2644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8243B"/>
                </a:solidFill>
                <a:latin typeface="Aptos"/>
              </a:defRPr>
            </a:pPr>
            <a:r>
              <a:t>Ejecutar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264408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3718A"/>
                </a:solidFill>
                <a:latin typeface="Aptos"/>
              </a:defRPr>
            </a:pPr>
            <a:r>
              <a:t>Insertar 5.000 productos y detener la grabación.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22191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4F46E5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82219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8243B"/>
                </a:solidFill>
                <a:latin typeface="Aptos"/>
              </a:defRPr>
            </a:pPr>
            <a:r>
              <a:t>Comparar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822191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3718A"/>
                </a:solidFill>
                <a:latin typeface="Aptos"/>
              </a:defRPr>
            </a:pPr>
            <a:r>
              <a:t>Revisar la interacción; repetir con búsqueda y paginación.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