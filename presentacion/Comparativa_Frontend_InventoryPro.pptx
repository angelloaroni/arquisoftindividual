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4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presProps.xml" ContentType="application/vnd.openxmlformats-officedocument.presentationml.presProps+xml"/>
  <Override PartName="/ppt/media/image2.emf" ContentType="image/x-emf"/>
  <Override PartName="/ppt/media/image5.emf" ContentType="image/x-emf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60" r:id="rId3"/>
    <p:sldMasterId id="214748369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6858000" cy="9144000"/>
  <p:embeddedFontLst>
    <p:embeddedFont>
      <p:font typeface="Verdana"/>
      <p:regular r:id="rId13"/>
      <p:bold r:id="rId14"/>
      <p:italic r:id="rId15"/>
      <p:boldItalic r:id="rId16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4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font" Target="fonts/Font_1_Verdana_Regular.fntdata"/><Relationship Id="rId14" Type="http://schemas.openxmlformats.org/officeDocument/2006/relationships/font" Target="fonts/Font_2_Verdana_Bold.fntdata"/><Relationship Id="rId15" Type="http://schemas.openxmlformats.org/officeDocument/2006/relationships/font" Target="fonts/Font_3_Verdana_Italic.fntdata"/><Relationship Id="rId16" Type="http://schemas.openxmlformats.org/officeDocument/2006/relationships/font" Target="fonts/Font_4_Verdana_BoldItalic.fntdata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3C0BB4-E29D-425D-9749-A776303F155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Hoy compararé React, Vue, Angular y Svelte. Las cuatro tecnologías permiten construir interfaces con componentes, pero difieren en su alcance, su sintaxis, su reactividad y las herramientas que ofrecen. Primero explicaré esas diferencias y al final mostraré una misma aplicación implementada con cada una. [20 segundos]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La comparación no consiste solamente en medir cuál carga más rápido. También importa cómo se escribe el código, cómo se organiza el estado, qué herramientas trae la tecnología y cuánto debe decidir el equipo. Usaré estos criterios para explicar las diferencias. React es una biblioteca de interfaz; Vue, Angular y Svelte se presentan como frameworks, aunque tienen alcances distintos. [25 segundos]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React se concentra en la interfaz y suele escribir componentes con JSX, una sintaxis que combina JavaScript con marcado. Vue ofrece componentes que separan template, lógica y estilos, y puede adoptarse de forma gradual. Angular integra más herramientas y trabaja principalmente con TypeScript, templates, servicios e inyección de dependencias. Svelte también usa componentes con marcado, lógica y estilos, pero su compilador transforma el código para generar las actualizaciones de la interfaz. [40 segundos]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El estado representa la información que cambia en la aplicación. En React, useState permite actualizarlo y provocar nuevos renders; React reconcilia los cambios para actualizar el DOM. Vue registra dependencias reactivas con herramientas como ref y computed. Angular dispone de signals y de su sistema de detección de cambios. Svelte 5 usa runes como $state y $derived, junto con código generado por el compilador. Tener un compilador o usar signals no garantiza automáticamente mejor rendimiento: hay que medir un escenario concreto. [40 segundos]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Otra diferencia está en las decisiones que toma el equipo. En React se eligen varias piezas del ecosistema según el proyecto. Vue cuenta con herramientas oficiales como Vue Router y Pinia. Angular integra CLI, router, formularios e inyección de dependencias, y propone más convenciones. Para Svelte, SvelteKit añade capacidades de aplicación como routing y renderizado del lado del servidor. Vite es una herramienta de desarrollo y compilación, no un framework de UI. [35 segundos]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880" cy="342864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 hay una tecnología que gane en todos los proyectos. React puede ser adecuado cuando se busca flexibilidad y un ecosistema amplio; Vue facilita una adopción gradual; Angular ofrece herramientas y convenciones integradas; Svelte propone un enfoque basado en compilación. La elección también depende de la experiencia del equipo, las integraciones, el mantenimiento y la complejidad. Para hablar de rendimiento necesitamos condiciones equivalentes y varias mediciones, no solamente un número aislado. [30 segundos]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marL="457200" indent="-298440" algn="l">
              <a:lnSpc>
                <a:spcPct val="10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Para pasar de la teoría a la práctica, implementé InventoryPro en React 18, Vue 3.5, Angular 19 y Svelte 5. Las cuatro versiones tienen los mismos datos y las mismas operaciones de inventario. Mostraré búsqueda, gestión de productos y la inserción de cinco mil registros. Para comparar el montaje elegiré todas las filas, limpiaré la tabla y grabaré la inserción con F12, en Performance. Seleccionaré el clic en Interactions: el INP del panel resume la sesión y no necesariamente representa la última inserción. [25 segundos y pasar a la demostración]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5.emf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emf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5.emf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jpeg"/><Relationship Id="rId3" Type="http://schemas.openxmlformats.org/officeDocument/2006/relationships/image" Target="../media/image2.emf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<Relationship Id="rId3" Type="http://schemas.openxmlformats.org/officeDocument/2006/relationships/image" Target="../media/image5.emf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emf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<Relationship Id="rId3" Type="http://schemas.openxmlformats.org/officeDocument/2006/relationships/image" Target="../media/image5.emf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<Relationship Id="rId3" Type="http://schemas.openxmlformats.org/officeDocument/2006/relationships/image" Target="../media/image5.emf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emf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jpeg"/><Relationship Id="rId3" Type="http://schemas.openxmlformats.org/officeDocument/2006/relationships/image" Target="../media/image2.emf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Main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25080" y="1728360"/>
            <a:ext cx="669384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1225080" y="2957040"/>
            <a:ext cx="669384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n 5"/>
          <p:cNvPicPr/>
          <p:nvPr/>
        </p:nvPicPr>
        <p:blipFill>
          <a:blip r:embed="rId2"/>
          <a:srcRect l="0" t="0" r="34235" b="0"/>
          <a:stretch/>
        </p:blipFill>
        <p:spPr>
          <a:xfrm>
            <a:off x="91080" y="-1800"/>
            <a:ext cx="1684080" cy="88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Red slide with big numb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25856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800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pic>
        <p:nvPicPr>
          <p:cNvPr id="7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lide with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99880" y="911160"/>
            <a:ext cx="85442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n 4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25080" y="1728360"/>
            <a:ext cx="669384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1225080" y="2945160"/>
            <a:ext cx="669384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n 4"/>
          <p:cNvPicPr/>
          <p:nvPr/>
        </p:nvPicPr>
        <p:blipFill>
          <a:blip r:embed="rId2"/>
          <a:stretch/>
        </p:blipFill>
        <p:spPr>
          <a:xfrm>
            <a:off x="91080" y="-1800"/>
            <a:ext cx="256104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653800" y="1607400"/>
            <a:ext cx="283968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5653800" y="2932200"/>
            <a:ext cx="2839680" cy="123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" name="Imagen 4"/>
          <p:cNvPicPr/>
          <p:nvPr/>
        </p:nvPicPr>
        <p:blipFill>
          <a:blip r:embed="rId2"/>
          <a:srcRect l="0" t="0" r="29893" b="0"/>
          <a:stretch/>
        </p:blipFill>
        <p:spPr>
          <a:xfrm>
            <a:off x="7100640" y="4321080"/>
            <a:ext cx="179532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653800" y="1607400"/>
            <a:ext cx="283968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5653800" y="2932200"/>
            <a:ext cx="2839680" cy="123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Imagen 5"/>
          <p:cNvPicPr/>
          <p:nvPr/>
        </p:nvPicPr>
        <p:blipFill>
          <a:blip r:embed="rId2"/>
          <a:stretch/>
        </p:blipFill>
        <p:spPr>
          <a:xfrm>
            <a:off x="6586200" y="4321080"/>
            <a:ext cx="256104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ext slide with title 1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97440" y="10443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97440" y="1628280"/>
            <a:ext cx="6147360" cy="187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n 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Imagen 4"/>
          <p:cNvPicPr/>
          <p:nvPr/>
        </p:nvPicPr>
        <p:blipFill>
          <a:blip r:embed="rId3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and Sub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n 6"/>
          <p:cNvPicPr/>
          <p:nvPr/>
        </p:nvPicPr>
        <p:blipFill>
          <a:blip r:embed="rId2"/>
          <a:srcRect l="10151" t="9800" r="613" b="1487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Google Shape;37;p6"/>
          <p:cNvSpPr/>
          <p:nvPr/>
        </p:nvSpPr>
        <p:spPr>
          <a:xfrm>
            <a:off x="5042520" y="589680"/>
            <a:ext cx="3821760" cy="42404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336280" y="900360"/>
            <a:ext cx="2598120" cy="119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216;p28"/>
          <p:cNvSpPr/>
          <p:nvPr/>
        </p:nvSpPr>
        <p:spPr>
          <a:xfrm>
            <a:off x="5442120" y="197928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n 7"/>
          <p:cNvPicPr/>
          <p:nvPr/>
        </p:nvPicPr>
        <p:blipFill>
          <a:blip r:embed="rId3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1_Slide with two columns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10548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Google Shape;64;p10"/>
          <p:cNvSpPr/>
          <p:nvPr/>
        </p:nvSpPr>
        <p:spPr>
          <a:xfrm>
            <a:off x="791640" y="4187520"/>
            <a:ext cx="290520" cy="45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64;p10"/>
          <p:cNvSpPr/>
          <p:nvPr/>
        </p:nvSpPr>
        <p:spPr>
          <a:xfrm>
            <a:off x="5041080" y="4187520"/>
            <a:ext cx="290520" cy="45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Imagen 9"/>
          <p:cNvPicPr/>
          <p:nvPr/>
        </p:nvPicPr>
        <p:blipFill>
          <a:blip r:embed="rId3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67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Marcador de número de diapositiva 2"/>
          <p:cNvSpPr/>
          <p:nvPr/>
        </p:nvSpPr>
        <p:spPr>
          <a:xfrm>
            <a:off x="8604360" y="4908240"/>
            <a:ext cx="5392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fld id="{4A6D0A41-4823-4D71-AB6E-1D1BF43BCE0E}" type="slidenum">
              <a:rPr lang="es-ES_tradnl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1_Slide with three columns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11760" y="67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Imagen 10"/>
          <p:cNvPicPr/>
          <p:nvPr/>
        </p:nvPicPr>
        <p:blipFill>
          <a:blip r:embed="rId2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25080" y="1728360"/>
            <a:ext cx="669384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1225080" y="2957040"/>
            <a:ext cx="669384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n 5"/>
          <p:cNvPicPr/>
          <p:nvPr/>
        </p:nvPicPr>
        <p:blipFill>
          <a:blip r:embed="rId2"/>
          <a:srcRect l="0" t="0" r="30812" b="0"/>
          <a:stretch/>
        </p:blipFill>
        <p:spPr>
          <a:xfrm>
            <a:off x="91080" y="-1800"/>
            <a:ext cx="177192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n 6"/>
          <p:cNvPicPr/>
          <p:nvPr/>
        </p:nvPicPr>
        <p:blipFill>
          <a:blip r:embed="rId2"/>
          <a:srcRect l="10151" t="9800" r="613" b="1487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Google Shape;37;p6"/>
          <p:cNvSpPr/>
          <p:nvPr/>
        </p:nvSpPr>
        <p:spPr>
          <a:xfrm>
            <a:off x="5042520" y="589680"/>
            <a:ext cx="3821760" cy="424044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336280" y="900360"/>
            <a:ext cx="2598120" cy="119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Google Shape;216;p28"/>
          <p:cNvSpPr/>
          <p:nvPr/>
        </p:nvSpPr>
        <p:spPr>
          <a:xfrm>
            <a:off x="5442120" y="197928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n 7"/>
          <p:cNvPicPr/>
          <p:nvPr/>
        </p:nvPicPr>
        <p:blipFill>
          <a:blip r:embed="rId3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1;p7"/>
          <p:cNvSpPr/>
          <p:nvPr/>
        </p:nvSpPr>
        <p:spPr>
          <a:xfrm>
            <a:off x="5305680" y="415440"/>
            <a:ext cx="3451320" cy="4348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739840" y="765000"/>
            <a:ext cx="2598120" cy="85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text and quot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29480" y="2871360"/>
            <a:ext cx="3658320" cy="139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5010480" y="428040"/>
            <a:ext cx="3787920" cy="857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n 8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Slide with two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10548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10548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64;p10"/>
          <p:cNvSpPr/>
          <p:nvPr/>
        </p:nvSpPr>
        <p:spPr>
          <a:xfrm>
            <a:off x="791640" y="4187520"/>
            <a:ext cx="290520" cy="45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64;p10"/>
          <p:cNvSpPr/>
          <p:nvPr/>
        </p:nvSpPr>
        <p:spPr>
          <a:xfrm>
            <a:off x="5041080" y="4187520"/>
            <a:ext cx="290520" cy="45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Imagen 9"/>
          <p:cNvPicPr/>
          <p:nvPr/>
        </p:nvPicPr>
        <p:blipFill>
          <a:blip r:embed="rId3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lide with three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11760" y="67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673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n 10"/>
          <p:cNvPicPr/>
          <p:nvPr/>
        </p:nvPicPr>
        <p:blipFill>
          <a:blip r:embed="rId2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six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-510840" y="762480"/>
            <a:ext cx="10165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ed slide with big number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25856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800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pic>
        <p:nvPicPr>
          <p:cNvPr id="67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n 7"/>
          <p:cNvPicPr/>
          <p:nvPr/>
        </p:nvPicPr>
        <p:blipFill>
          <a:blip r:embed="rId3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25856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80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800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pic>
        <p:nvPicPr>
          <p:cNvPr id="70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25080" y="1728360"/>
            <a:ext cx="669384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1225080" y="2945160"/>
            <a:ext cx="6693840" cy="723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3" name="Imagen 4"/>
          <p:cNvPicPr/>
          <p:nvPr/>
        </p:nvPicPr>
        <p:blipFill>
          <a:blip r:embed="rId2"/>
          <a:srcRect l="0" t="0" r="32597" b="0"/>
          <a:stretch/>
        </p:blipFill>
        <p:spPr>
          <a:xfrm>
            <a:off x="91080" y="-1800"/>
            <a:ext cx="172620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mbers and subtitle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 hasCustomPrompt="1"/>
          </p:nvPr>
        </p:nvSpPr>
        <p:spPr>
          <a:xfrm>
            <a:off x="5746680" y="675360"/>
            <a:ext cx="199080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3200" b="1" u="none" strike="noStrike">
              <a:solidFill>
                <a:srgbClr val="FF3A00"/>
              </a:solidFill>
              <a:effectLst/>
              <a:uFillTx/>
              <a:latin typeface="Verdana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title" hasCustomPrompt="1"/>
          </p:nvPr>
        </p:nvSpPr>
        <p:spPr>
          <a:xfrm>
            <a:off x="5746680" y="1939680"/>
            <a:ext cx="199080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3200" b="1" u="none" strike="noStrike">
              <a:solidFill>
                <a:srgbClr val="FF3A00"/>
              </a:solidFill>
              <a:effectLst/>
              <a:uFillTx/>
              <a:latin typeface="Verdana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title" hasCustomPrompt="1"/>
          </p:nvPr>
        </p:nvSpPr>
        <p:spPr>
          <a:xfrm>
            <a:off x="5746680" y="3204000"/>
            <a:ext cx="1990800" cy="869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ctr">
              <a:lnSpc>
                <a:spcPct val="100000"/>
              </a:lnSpc>
              <a:buNone/>
              <a:def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en-US" sz="32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xx%</a:t>
            </a:r>
            <a:endParaRPr lang="en-US" sz="3200" b="1" u="none" strike="noStrike">
              <a:solidFill>
                <a:srgbClr val="FF3A00"/>
              </a:solidFill>
              <a:effectLst/>
              <a:uFillTx/>
              <a:latin typeface="Verdana"/>
            </a:endParaRPr>
          </a:p>
        </p:txBody>
      </p:sp>
      <p:pic>
        <p:nvPicPr>
          <p:cNvPr id="77" name="Imagen 9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text and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35960" y="711000"/>
            <a:ext cx="80989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text and title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798840" y="1582920"/>
            <a:ext cx="34275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n 6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99880" y="911160"/>
            <a:ext cx="85442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Imagen 4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99880" y="911160"/>
            <a:ext cx="85442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Imagen 4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with six columns and gray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08080" y="249120"/>
            <a:ext cx="3560040" cy="85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36;p18"/>
          <p:cNvSpPr/>
          <p:nvPr/>
        </p:nvSpPr>
        <p:spPr>
          <a:xfrm>
            <a:off x="3475080" y="3825360"/>
            <a:ext cx="1807560" cy="78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/>
            <a:endParaRPr lang="es-PE" sz="1200" b="0" u="none" strike="noStrike">
              <a:solidFill>
                <a:schemeClr val="dk1"/>
              </a:solidFill>
              <a:effectLst/>
              <a:uFillTx/>
              <a:latin typeface="Verdana"/>
            </a:endParaRPr>
          </a:p>
        </p:txBody>
      </p:sp>
      <p:pic>
        <p:nvPicPr>
          <p:cNvPr id="88" name="Imagen 12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Red and whit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40;p19"/>
          <p:cNvSpPr/>
          <p:nvPr/>
        </p:nvSpPr>
        <p:spPr>
          <a:xfrm>
            <a:off x="0" y="0"/>
            <a:ext cx="2947320" cy="514332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69640" y="2285280"/>
            <a:ext cx="2408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3148200" y="154080"/>
            <a:ext cx="58010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n 1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ay slide with four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57;p20"/>
          <p:cNvSpPr/>
          <p:nvPr/>
        </p:nvSpPr>
        <p:spPr>
          <a:xfrm>
            <a:off x="0" y="-13680"/>
            <a:ext cx="2285640" cy="516132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58;p20"/>
          <p:cNvSpPr/>
          <p:nvPr/>
        </p:nvSpPr>
        <p:spPr>
          <a:xfrm>
            <a:off x="2286000" y="-13680"/>
            <a:ext cx="2285640" cy="5161320"/>
          </a:xfrm>
          <a:prstGeom prst="rect">
            <a:avLst/>
          </a:prstGeom>
          <a:solidFill>
            <a:srgbClr val="4343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434343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59;p20"/>
          <p:cNvSpPr/>
          <p:nvPr/>
        </p:nvSpPr>
        <p:spPr>
          <a:xfrm>
            <a:off x="4572000" y="-4680"/>
            <a:ext cx="2285640" cy="5161320"/>
          </a:xfrm>
          <a:prstGeom prst="rect">
            <a:avLst/>
          </a:prstGeom>
          <a:solidFill>
            <a:srgbClr val="6666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60;p20"/>
          <p:cNvSpPr/>
          <p:nvPr/>
        </p:nvSpPr>
        <p:spPr>
          <a:xfrm>
            <a:off x="6858000" y="-4680"/>
            <a:ext cx="2285640" cy="5161320"/>
          </a:xfrm>
          <a:prstGeom prst="rect">
            <a:avLst/>
          </a:prstGeom>
          <a:solidFill>
            <a:srgbClr val="43434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434343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63;p20"/>
          <p:cNvSpPr/>
          <p:nvPr/>
        </p:nvSpPr>
        <p:spPr>
          <a:xfrm flipV="1">
            <a:off x="1024560" y="2813760"/>
            <a:ext cx="236520" cy="4536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64;p20"/>
          <p:cNvSpPr/>
          <p:nvPr/>
        </p:nvSpPr>
        <p:spPr>
          <a:xfrm flipV="1">
            <a:off x="3310560" y="2813760"/>
            <a:ext cx="236520" cy="4536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65;p20"/>
          <p:cNvSpPr/>
          <p:nvPr/>
        </p:nvSpPr>
        <p:spPr>
          <a:xfrm flipV="1">
            <a:off x="5596560" y="2813760"/>
            <a:ext cx="236520" cy="4536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66;p20"/>
          <p:cNvSpPr/>
          <p:nvPr/>
        </p:nvSpPr>
        <p:spPr>
          <a:xfrm flipV="1">
            <a:off x="7882560" y="2848680"/>
            <a:ext cx="236520" cy="4536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2680" bIns="2268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n 1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White slide with two 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706320" y="2807280"/>
            <a:ext cx="36291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4808160" y="2807280"/>
            <a:ext cx="36291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n 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slide with red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98840" y="1582920"/>
            <a:ext cx="34275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n 6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653800" y="1607400"/>
            <a:ext cx="283968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5653800" y="2932200"/>
            <a:ext cx="2839680" cy="123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Imagen 4"/>
          <p:cNvPicPr/>
          <p:nvPr/>
        </p:nvPicPr>
        <p:blipFill>
          <a:blip r:embed="rId2"/>
          <a:srcRect l="0" t="0" r="28703" b="0"/>
          <a:stretch/>
        </p:blipFill>
        <p:spPr>
          <a:xfrm>
            <a:off x="7317720" y="4321080"/>
            <a:ext cx="182592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653800" y="1607400"/>
            <a:ext cx="283968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title"/>
          </p:nvPr>
        </p:nvSpPr>
        <p:spPr>
          <a:xfrm>
            <a:off x="5653800" y="2932200"/>
            <a:ext cx="2839680" cy="1231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Imagen 5"/>
          <p:cNvPicPr/>
          <p:nvPr/>
        </p:nvPicPr>
        <p:blipFill>
          <a:blip r:embed="rId2"/>
          <a:srcRect l="0" t="0" r="32721" b="0"/>
          <a:stretch/>
        </p:blipFill>
        <p:spPr>
          <a:xfrm>
            <a:off x="7420680" y="4424040"/>
            <a:ext cx="1722960" cy="8845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slide with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48640" y="1504440"/>
            <a:ext cx="283968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n 11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slide with title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397440" y="10443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397440" y="1628280"/>
            <a:ext cx="6147360" cy="187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Imagen 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3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397440" y="10443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indent="0" algn="l">
              <a:buNone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397440" y="1628280"/>
            <a:ext cx="6147360" cy="1877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1752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0492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0492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0492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0492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05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Imagen 7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Imagen 4"/>
          <p:cNvPicPr/>
          <p:nvPr/>
        </p:nvPicPr>
        <p:blipFill>
          <a:blip r:embed="rId3"/>
          <a:stretch/>
        </p:blipFill>
        <p:spPr>
          <a:xfrm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imple slide with text and 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81760" y="1049760"/>
            <a:ext cx="3395520" cy="151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33;p5"/>
          <p:cNvSpPr/>
          <p:nvPr/>
        </p:nvSpPr>
        <p:spPr>
          <a:xfrm>
            <a:off x="2196720" y="37476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34;p5"/>
          <p:cNvSpPr/>
          <p:nvPr/>
        </p:nvSpPr>
        <p:spPr>
          <a:xfrm>
            <a:off x="2196720" y="3018600"/>
            <a:ext cx="165960" cy="3708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n 5"/>
          <p:cNvPicPr/>
          <p:nvPr/>
        </p:nvPicPr>
        <p:blipFill>
          <a:blip r:embed="rId2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Sub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n 6"/>
          <p:cNvPicPr/>
          <p:nvPr/>
        </p:nvPicPr>
        <p:blipFill>
          <a:blip r:embed="rId2"/>
          <a:srcRect l="10151" t="9800" r="613" b="14875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Google Shape;37;p6"/>
          <p:cNvSpPr/>
          <p:nvPr/>
        </p:nvSpPr>
        <p:spPr>
          <a:xfrm>
            <a:off x="5042520" y="589680"/>
            <a:ext cx="3821760" cy="4240440"/>
          </a:xfrm>
          <a:prstGeom prst="rect">
            <a:avLst/>
          </a:prstGeom>
          <a:solidFill>
            <a:srgbClr val="FF3A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36280" y="900360"/>
            <a:ext cx="2598120" cy="99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indent="0" algn="l">
              <a:buNone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216;p28"/>
          <p:cNvSpPr/>
          <p:nvPr/>
        </p:nvSpPr>
        <p:spPr>
          <a:xfrm>
            <a:off x="5442120" y="1979280"/>
            <a:ext cx="165960" cy="370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3160" tIns="18720" rIns="83160" bIns="1872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n 12"/>
          <p:cNvPicPr/>
          <p:nvPr/>
        </p:nvPicPr>
        <p:blipFill>
          <a:blip r:embed="rId3"/>
          <a:stretch/>
        </p:blipFill>
        <p:spPr>
          <a:xfrm flipH="1" rot="10800000">
            <a:off x="8805600" y="111960"/>
            <a:ext cx="225720" cy="2257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0.xml"/><Relationship Id="rId21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2.xml"/><Relationship Id="rId23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34.xml"/><Relationship Id="rId25" Type="http://schemas.openxmlformats.org/officeDocument/2006/relationships/slideLayout" Target="../slideLayouts/slideLayout35.xml"/><Relationship Id="rId26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39.xml"/><Relationship Id="rId30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4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225080" y="1108080"/>
            <a:ext cx="6693840" cy="1064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p>
            <a:pPr indent="0" algn="ctr">
              <a:lnSpc>
                <a:spcPct val="90000"/>
              </a:lnSpc>
              <a:spcAft>
                <a:spcPts val="601"/>
              </a:spcAft>
              <a:buNone/>
            </a:pPr>
            <a:r>
              <a:rPr lang="es-MX" sz="25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React, Vue, Angular y Svelte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CuadroTexto 5"/>
          <p:cNvSpPr/>
          <p:nvPr/>
        </p:nvSpPr>
        <p:spPr>
          <a:xfrm>
            <a:off x="2423160" y="2416320"/>
            <a:ext cx="42973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171360" indent="-17136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s-PE" sz="1300" b="0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Diferencias en arquitectura, reactividad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Font typeface="Arial"/>
              <a:buChar char="•"/>
            </a:pPr>
            <a:r>
              <a:rPr lang="es-PE" sz="1300" b="0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y experiencia de desarrollo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CuadroTexto 6"/>
          <p:cNvSpPr/>
          <p:nvPr/>
        </p:nvSpPr>
        <p:spPr>
          <a:xfrm>
            <a:off x="2966400" y="3353400"/>
            <a:ext cx="321084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lang="es-PE" sz="1400" b="0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Angello Aroni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CuadroTexto 9"/>
          <p:cNvSpPr/>
          <p:nvPr/>
        </p:nvSpPr>
        <p:spPr>
          <a:xfrm>
            <a:off x="382680" y="4491720"/>
            <a:ext cx="180504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s-MX" sz="800" b="0" u="none" strike="noStrike">
                <a:solidFill>
                  <a:srgbClr val="FF3A00"/>
                </a:solidFill>
                <a:effectLst/>
                <a:uFillTx/>
                <a:latin typeface="Arial"/>
                <a:ea typeface="Arial"/>
              </a:rPr>
              <a:t>PROYECTO COMPARATIVO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CuadroTexto 10"/>
          <p:cNvSpPr/>
          <p:nvPr/>
        </p:nvSpPr>
        <p:spPr>
          <a:xfrm>
            <a:off x="382680" y="4639320"/>
            <a:ext cx="49860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s-MX" sz="790" b="0" u="none" strike="noStrike">
                <a:solidFill>
                  <a:srgbClr val="FF3A00"/>
                </a:solidFill>
                <a:effectLst/>
                <a:uFillTx/>
                <a:latin typeface="Arial"/>
                <a:ea typeface="Arial"/>
              </a:rPr>
              <a:t>2026-2</a:t>
            </a:r>
            <a:endParaRPr lang="en-US" sz="79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36;p1"/>
          <p:cNvSpPr/>
          <p:nvPr/>
        </p:nvSpPr>
        <p:spPr>
          <a:xfrm>
            <a:off x="5203800" y="225360"/>
            <a:ext cx="3880440" cy="39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r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s-PE" sz="1000" b="0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FACULTAD DE INGENIERÍA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s-PE" sz="1000" b="0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CARRERA DE INGENIERÍA DE SISTEMAS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CuadroTexto 2"/>
          <p:cNvSpPr/>
          <p:nvPr/>
        </p:nvSpPr>
        <p:spPr>
          <a:xfrm>
            <a:off x="512640" y="2540160"/>
            <a:ext cx="1769760" cy="73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/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CuadroTexto 7"/>
          <p:cNvSpPr/>
          <p:nvPr/>
        </p:nvSpPr>
        <p:spPr>
          <a:xfrm>
            <a:off x="2966400" y="1841760"/>
            <a:ext cx="32108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>
              <a:lnSpc>
                <a:spcPct val="100000"/>
              </a:lnSpc>
              <a:spcAft>
                <a:spcPts val="601"/>
              </a:spcAft>
            </a:pPr>
            <a:r>
              <a:rPr lang="es-PE" sz="1100" b="0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Comparación de tecnologías frontend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97440" y="10443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spcAft>
                <a:spcPts val="601"/>
              </a:spcAft>
              <a:buNone/>
            </a:pPr>
            <a:r>
              <a:rPr lang="es" sz="23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¿Qué diferencias vamos a comparar?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397440" y="1628280"/>
            <a:ext cx="8137800" cy="265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Cuatro tecnologías para construir interfaces web.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• Alcance: biblioteca o framework.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• Componentes, sintaxis y lenguaje.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• Estado y actualización de la interfaz.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• Herramientas y organización del proyecto.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-PE" sz="16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• Criterios para elegir según el contexto.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768;p48"/>
          <p:cNvGrpSpPr/>
          <p:nvPr/>
        </p:nvGrpSpPr>
        <p:grpSpPr>
          <a:xfrm>
            <a:off x="3224520" y="1322280"/>
            <a:ext cx="471240" cy="464760"/>
            <a:chOff x="3224520" y="1322280"/>
            <a:chExt cx="471240" cy="464760"/>
          </a:xfrm>
        </p:grpSpPr>
        <p:sp>
          <p:nvSpPr>
            <p:cNvPr id="149" name="Google Shape;769;p48"/>
            <p:cNvSpPr/>
            <p:nvPr/>
          </p:nvSpPr>
          <p:spPr>
            <a:xfrm>
              <a:off x="3526920" y="1376280"/>
              <a:ext cx="134640" cy="135720"/>
            </a:xfrm>
            <a:custGeom>
              <a:avLst/>
              <a:gdLst>
                <a:gd name="textAreaLeft" fmla="*/ 0 w 134640"/>
                <a:gd name="textAreaRight" fmla="*/ 135000 w 13464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3372" h="3404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09" y="694"/>
                  </a:lnTo>
                  <a:cubicBezTo>
                    <a:pt x="1576" y="694"/>
                    <a:pt x="2049" y="1166"/>
                    <a:pt x="2049" y="1733"/>
                  </a:cubicBezTo>
                  <a:lnTo>
                    <a:pt x="2049" y="2269"/>
                  </a:lnTo>
                  <a:lnTo>
                    <a:pt x="1923" y="2175"/>
                  </a:lnTo>
                  <a:cubicBezTo>
                    <a:pt x="1860" y="2112"/>
                    <a:pt x="1773" y="2080"/>
                    <a:pt x="1686" y="2080"/>
                  </a:cubicBezTo>
                  <a:cubicBezTo>
                    <a:pt x="1600" y="2080"/>
                    <a:pt x="1513" y="2112"/>
                    <a:pt x="1450" y="2175"/>
                  </a:cubicBezTo>
                  <a:cubicBezTo>
                    <a:pt x="1324" y="2269"/>
                    <a:pt x="1324" y="2521"/>
                    <a:pt x="1450" y="2647"/>
                  </a:cubicBezTo>
                  <a:lnTo>
                    <a:pt x="2112" y="3309"/>
                  </a:lnTo>
                  <a:cubicBezTo>
                    <a:pt x="2175" y="3372"/>
                    <a:pt x="2269" y="3403"/>
                    <a:pt x="2360" y="3403"/>
                  </a:cubicBezTo>
                  <a:cubicBezTo>
                    <a:pt x="2450" y="3403"/>
                    <a:pt x="2537" y="3372"/>
                    <a:pt x="2584" y="3309"/>
                  </a:cubicBezTo>
                  <a:lnTo>
                    <a:pt x="3277" y="2647"/>
                  </a:lnTo>
                  <a:cubicBezTo>
                    <a:pt x="3372" y="2521"/>
                    <a:pt x="3372" y="2269"/>
                    <a:pt x="3277" y="2175"/>
                  </a:cubicBezTo>
                  <a:cubicBezTo>
                    <a:pt x="3214" y="2112"/>
                    <a:pt x="3120" y="2080"/>
                    <a:pt x="3029" y="2080"/>
                  </a:cubicBezTo>
                  <a:cubicBezTo>
                    <a:pt x="2939" y="2080"/>
                    <a:pt x="2852" y="2112"/>
                    <a:pt x="2805" y="2175"/>
                  </a:cubicBezTo>
                  <a:lnTo>
                    <a:pt x="2679" y="2269"/>
                  </a:lnTo>
                  <a:lnTo>
                    <a:pt x="2679" y="1733"/>
                  </a:lnTo>
                  <a:cubicBezTo>
                    <a:pt x="2742" y="788"/>
                    <a:pt x="1954" y="1"/>
                    <a:pt x="1009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2120" tIns="68040" rIns="42120" bIns="680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Google Shape;770;p48"/>
            <p:cNvSpPr/>
            <p:nvPr/>
          </p:nvSpPr>
          <p:spPr>
            <a:xfrm>
              <a:off x="3336480" y="165096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3403" h="3404">
                  <a:moveTo>
                    <a:pt x="1013" y="1"/>
                  </a:moveTo>
                  <a:cubicBezTo>
                    <a:pt x="922" y="1"/>
                    <a:pt x="835" y="32"/>
                    <a:pt x="788" y="95"/>
                  </a:cubicBezTo>
                  <a:lnTo>
                    <a:pt x="127" y="757"/>
                  </a:lnTo>
                  <a:cubicBezTo>
                    <a:pt x="1" y="883"/>
                    <a:pt x="1" y="1135"/>
                    <a:pt x="127" y="1229"/>
                  </a:cubicBezTo>
                  <a:cubicBezTo>
                    <a:pt x="174" y="1292"/>
                    <a:pt x="260" y="1324"/>
                    <a:pt x="351" y="1324"/>
                  </a:cubicBezTo>
                  <a:cubicBezTo>
                    <a:pt x="442" y="1324"/>
                    <a:pt x="536" y="1292"/>
                    <a:pt x="599" y="1229"/>
                  </a:cubicBezTo>
                  <a:lnTo>
                    <a:pt x="694" y="1135"/>
                  </a:lnTo>
                  <a:lnTo>
                    <a:pt x="694" y="1671"/>
                  </a:lnTo>
                  <a:cubicBezTo>
                    <a:pt x="694" y="2616"/>
                    <a:pt x="1450" y="3372"/>
                    <a:pt x="2395" y="3372"/>
                  </a:cubicBezTo>
                  <a:lnTo>
                    <a:pt x="3057" y="3372"/>
                  </a:lnTo>
                  <a:lnTo>
                    <a:pt x="3057" y="3403"/>
                  </a:lnTo>
                  <a:cubicBezTo>
                    <a:pt x="3246" y="3403"/>
                    <a:pt x="3403" y="3246"/>
                    <a:pt x="3403" y="3057"/>
                  </a:cubicBezTo>
                  <a:cubicBezTo>
                    <a:pt x="3403" y="2868"/>
                    <a:pt x="3246" y="2710"/>
                    <a:pt x="3057" y="2710"/>
                  </a:cubicBezTo>
                  <a:lnTo>
                    <a:pt x="2363" y="2710"/>
                  </a:lnTo>
                  <a:cubicBezTo>
                    <a:pt x="1796" y="2710"/>
                    <a:pt x="1324" y="2238"/>
                    <a:pt x="1324" y="1671"/>
                  </a:cubicBezTo>
                  <a:lnTo>
                    <a:pt x="1324" y="1135"/>
                  </a:lnTo>
                  <a:lnTo>
                    <a:pt x="1450" y="1229"/>
                  </a:lnTo>
                  <a:cubicBezTo>
                    <a:pt x="1513" y="1292"/>
                    <a:pt x="1599" y="1324"/>
                    <a:pt x="1686" y="1324"/>
                  </a:cubicBezTo>
                  <a:cubicBezTo>
                    <a:pt x="1773" y="1324"/>
                    <a:pt x="1859" y="1292"/>
                    <a:pt x="1922" y="1229"/>
                  </a:cubicBezTo>
                  <a:cubicBezTo>
                    <a:pt x="2048" y="1135"/>
                    <a:pt x="2048" y="883"/>
                    <a:pt x="1922" y="757"/>
                  </a:cubicBezTo>
                  <a:lnTo>
                    <a:pt x="1261" y="95"/>
                  </a:lnTo>
                  <a:cubicBezTo>
                    <a:pt x="1198" y="32"/>
                    <a:pt x="1103" y="1"/>
                    <a:pt x="1013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2480" tIns="68040" rIns="42480" bIns="680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Google Shape;771;p48"/>
            <p:cNvSpPr/>
            <p:nvPr/>
          </p:nvSpPr>
          <p:spPr>
            <a:xfrm>
              <a:off x="3224520" y="1322280"/>
              <a:ext cx="329760" cy="245520"/>
            </a:xfrm>
            <a:custGeom>
              <a:avLst/>
              <a:gdLst>
                <a:gd name="textAreaLeft" fmla="*/ 0 w 329760"/>
                <a:gd name="textAreaRight" fmla="*/ 330120 w 32976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8255" h="6144">
                  <a:moveTo>
                    <a:pt x="4191" y="0"/>
                  </a:moveTo>
                  <a:cubicBezTo>
                    <a:pt x="2300" y="0"/>
                    <a:pt x="757" y="1544"/>
                    <a:pt x="757" y="3434"/>
                  </a:cubicBezTo>
                  <a:lnTo>
                    <a:pt x="757" y="3529"/>
                  </a:lnTo>
                  <a:cubicBezTo>
                    <a:pt x="347" y="3686"/>
                    <a:pt x="95" y="4033"/>
                    <a:pt x="95" y="4474"/>
                  </a:cubicBezTo>
                  <a:lnTo>
                    <a:pt x="95" y="5135"/>
                  </a:lnTo>
                  <a:cubicBezTo>
                    <a:pt x="1" y="5671"/>
                    <a:pt x="473" y="6143"/>
                    <a:pt x="1009" y="6143"/>
                  </a:cubicBezTo>
                  <a:cubicBezTo>
                    <a:pt x="1135" y="6143"/>
                    <a:pt x="1261" y="6112"/>
                    <a:pt x="1387" y="6080"/>
                  </a:cubicBezTo>
                  <a:lnTo>
                    <a:pt x="1387" y="3403"/>
                  </a:lnTo>
                  <a:cubicBezTo>
                    <a:pt x="1387" y="1890"/>
                    <a:pt x="2647" y="630"/>
                    <a:pt x="4128" y="630"/>
                  </a:cubicBezTo>
                  <a:cubicBezTo>
                    <a:pt x="5640" y="630"/>
                    <a:pt x="6900" y="1890"/>
                    <a:pt x="6900" y="3403"/>
                  </a:cubicBezTo>
                  <a:lnTo>
                    <a:pt x="6900" y="6080"/>
                  </a:lnTo>
                  <a:cubicBezTo>
                    <a:pt x="6995" y="6112"/>
                    <a:pt x="7121" y="6143"/>
                    <a:pt x="7247" y="6143"/>
                  </a:cubicBezTo>
                  <a:cubicBezTo>
                    <a:pt x="7782" y="6143"/>
                    <a:pt x="8255" y="5671"/>
                    <a:pt x="8255" y="5135"/>
                  </a:cubicBezTo>
                  <a:lnTo>
                    <a:pt x="8255" y="4474"/>
                  </a:lnTo>
                  <a:cubicBezTo>
                    <a:pt x="8255" y="4033"/>
                    <a:pt x="8003" y="3623"/>
                    <a:pt x="7593" y="3529"/>
                  </a:cubicBezTo>
                  <a:lnTo>
                    <a:pt x="7593" y="3434"/>
                  </a:lnTo>
                  <a:cubicBezTo>
                    <a:pt x="7593" y="1544"/>
                    <a:pt x="6050" y="0"/>
                    <a:pt x="4191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Google Shape;772;p48"/>
            <p:cNvSpPr/>
            <p:nvPr/>
          </p:nvSpPr>
          <p:spPr>
            <a:xfrm>
              <a:off x="3307680" y="1404000"/>
              <a:ext cx="167400" cy="8316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83160"/>
                <a:gd name="textAreaBottom" fmla="*/ 83520 h 83160"/>
              </a:gdLst>
              <a:ahLst/>
              <a:cxnLst/>
              <a:rect l="textAreaLeft" t="textAreaTop" r="textAreaRight" b="textAreaBottom"/>
              <a:pathLst>
                <a:path w="4191" h="2091">
                  <a:moveTo>
                    <a:pt x="1734" y="1"/>
                  </a:moveTo>
                  <a:cubicBezTo>
                    <a:pt x="789" y="1"/>
                    <a:pt x="1" y="757"/>
                    <a:pt x="1" y="1702"/>
                  </a:cubicBezTo>
                  <a:lnTo>
                    <a:pt x="1" y="2049"/>
                  </a:lnTo>
                  <a:lnTo>
                    <a:pt x="1230" y="2049"/>
                  </a:lnTo>
                  <a:cubicBezTo>
                    <a:pt x="1545" y="2049"/>
                    <a:pt x="1891" y="2049"/>
                    <a:pt x="2017" y="1986"/>
                  </a:cubicBezTo>
                  <a:cubicBezTo>
                    <a:pt x="2049" y="1954"/>
                    <a:pt x="2080" y="1828"/>
                    <a:pt x="2080" y="1734"/>
                  </a:cubicBezTo>
                  <a:cubicBezTo>
                    <a:pt x="2080" y="1545"/>
                    <a:pt x="2238" y="1387"/>
                    <a:pt x="2458" y="1387"/>
                  </a:cubicBezTo>
                  <a:cubicBezTo>
                    <a:pt x="2647" y="1387"/>
                    <a:pt x="2805" y="1545"/>
                    <a:pt x="2805" y="1734"/>
                  </a:cubicBezTo>
                  <a:cubicBezTo>
                    <a:pt x="2805" y="1828"/>
                    <a:pt x="2805" y="1954"/>
                    <a:pt x="2868" y="1986"/>
                  </a:cubicBezTo>
                  <a:cubicBezTo>
                    <a:pt x="2942" y="2059"/>
                    <a:pt x="3091" y="2090"/>
                    <a:pt x="3266" y="2090"/>
                  </a:cubicBezTo>
                  <a:cubicBezTo>
                    <a:pt x="3389" y="2090"/>
                    <a:pt x="3525" y="2075"/>
                    <a:pt x="3656" y="2049"/>
                  </a:cubicBezTo>
                  <a:lnTo>
                    <a:pt x="4191" y="2049"/>
                  </a:lnTo>
                  <a:lnTo>
                    <a:pt x="4191" y="1702"/>
                  </a:lnTo>
                  <a:lnTo>
                    <a:pt x="4128" y="1702"/>
                  </a:lnTo>
                  <a:cubicBezTo>
                    <a:pt x="4128" y="757"/>
                    <a:pt x="3340" y="1"/>
                    <a:pt x="2395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1760" rIns="52200" bIns="4176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Google Shape;773;p48"/>
            <p:cNvSpPr/>
            <p:nvPr/>
          </p:nvSpPr>
          <p:spPr>
            <a:xfrm>
              <a:off x="3307680" y="1503720"/>
              <a:ext cx="167400" cy="11808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18080"/>
                <a:gd name="textAreaBottom" fmla="*/ 118440 h 118080"/>
              </a:gdLst>
              <a:ahLst/>
              <a:cxnLst/>
              <a:rect l="textAreaLeft" t="textAreaTop" r="textAreaRight" b="textAreaBottom"/>
              <a:pathLst>
                <a:path w="4191" h="2963">
                  <a:moveTo>
                    <a:pt x="2395" y="1"/>
                  </a:moveTo>
                  <a:cubicBezTo>
                    <a:pt x="2080" y="253"/>
                    <a:pt x="1671" y="253"/>
                    <a:pt x="1230" y="253"/>
                  </a:cubicBezTo>
                  <a:lnTo>
                    <a:pt x="1" y="253"/>
                  </a:lnTo>
                  <a:lnTo>
                    <a:pt x="1" y="914"/>
                  </a:lnTo>
                  <a:cubicBezTo>
                    <a:pt x="1" y="2049"/>
                    <a:pt x="946" y="2962"/>
                    <a:pt x="2112" y="2962"/>
                  </a:cubicBezTo>
                  <a:cubicBezTo>
                    <a:pt x="3246" y="2962"/>
                    <a:pt x="4191" y="2049"/>
                    <a:pt x="4191" y="914"/>
                  </a:cubicBezTo>
                  <a:lnTo>
                    <a:pt x="4191" y="253"/>
                  </a:lnTo>
                  <a:lnTo>
                    <a:pt x="3466" y="253"/>
                  </a:lnTo>
                  <a:cubicBezTo>
                    <a:pt x="3088" y="253"/>
                    <a:pt x="2679" y="190"/>
                    <a:pt x="2395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59040" rIns="52200" bIns="590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Google Shape;774;p48"/>
            <p:cNvSpPr/>
            <p:nvPr/>
          </p:nvSpPr>
          <p:spPr>
            <a:xfrm>
              <a:off x="3528360" y="1567800"/>
              <a:ext cx="167400" cy="8316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83160"/>
                <a:gd name="textAreaBottom" fmla="*/ 83520 h 83160"/>
              </a:gdLst>
              <a:ahLst/>
              <a:cxnLst/>
              <a:rect l="textAreaLeft" t="textAreaTop" r="textAreaRight" b="textAreaBottom"/>
              <a:pathLst>
                <a:path w="4191" h="2090">
                  <a:moveTo>
                    <a:pt x="1702" y="0"/>
                  </a:moveTo>
                  <a:cubicBezTo>
                    <a:pt x="756" y="0"/>
                    <a:pt x="0" y="757"/>
                    <a:pt x="0" y="1702"/>
                  </a:cubicBezTo>
                  <a:lnTo>
                    <a:pt x="0" y="2048"/>
                  </a:lnTo>
                  <a:lnTo>
                    <a:pt x="1229" y="2048"/>
                  </a:lnTo>
                  <a:cubicBezTo>
                    <a:pt x="1544" y="2048"/>
                    <a:pt x="1891" y="2048"/>
                    <a:pt x="2017" y="1985"/>
                  </a:cubicBezTo>
                  <a:cubicBezTo>
                    <a:pt x="2048" y="1954"/>
                    <a:pt x="2080" y="1828"/>
                    <a:pt x="2080" y="1733"/>
                  </a:cubicBezTo>
                  <a:cubicBezTo>
                    <a:pt x="2080" y="1544"/>
                    <a:pt x="2237" y="1387"/>
                    <a:pt x="2458" y="1387"/>
                  </a:cubicBezTo>
                  <a:cubicBezTo>
                    <a:pt x="2647" y="1387"/>
                    <a:pt x="2804" y="1544"/>
                    <a:pt x="2804" y="1733"/>
                  </a:cubicBezTo>
                  <a:cubicBezTo>
                    <a:pt x="2804" y="1828"/>
                    <a:pt x="2804" y="1954"/>
                    <a:pt x="2867" y="1985"/>
                  </a:cubicBezTo>
                  <a:cubicBezTo>
                    <a:pt x="2941" y="2059"/>
                    <a:pt x="3091" y="2090"/>
                    <a:pt x="3265" y="2090"/>
                  </a:cubicBezTo>
                  <a:cubicBezTo>
                    <a:pt x="3388" y="2090"/>
                    <a:pt x="3524" y="2074"/>
                    <a:pt x="3655" y="2048"/>
                  </a:cubicBezTo>
                  <a:lnTo>
                    <a:pt x="4190" y="2048"/>
                  </a:lnTo>
                  <a:lnTo>
                    <a:pt x="4190" y="1702"/>
                  </a:lnTo>
                  <a:cubicBezTo>
                    <a:pt x="4096" y="757"/>
                    <a:pt x="3308" y="0"/>
                    <a:pt x="2363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1760" rIns="52200" bIns="4176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Google Shape;775;p48"/>
            <p:cNvSpPr/>
            <p:nvPr/>
          </p:nvSpPr>
          <p:spPr>
            <a:xfrm>
              <a:off x="3526920" y="1667520"/>
              <a:ext cx="163440" cy="119520"/>
            </a:xfrm>
            <a:custGeom>
              <a:avLst/>
              <a:gdLst>
                <a:gd name="textAreaLeft" fmla="*/ 0 w 163440"/>
                <a:gd name="textAreaRight" fmla="*/ 163800 w 163440"/>
                <a:gd name="textAreaTop" fmla="*/ 0 h 119520"/>
                <a:gd name="textAreaBottom" fmla="*/ 119880 h 119520"/>
              </a:gdLst>
              <a:ahLst/>
              <a:cxnLst/>
              <a:rect l="textAreaLeft" t="textAreaTop" r="textAreaRight" b="textAreaBottom"/>
              <a:pathLst>
                <a:path w="4097" h="2994">
                  <a:moveTo>
                    <a:pt x="2395" y="0"/>
                  </a:moveTo>
                  <a:cubicBezTo>
                    <a:pt x="2080" y="252"/>
                    <a:pt x="1639" y="252"/>
                    <a:pt x="1230" y="252"/>
                  </a:cubicBezTo>
                  <a:lnTo>
                    <a:pt x="1" y="252"/>
                  </a:lnTo>
                  <a:lnTo>
                    <a:pt x="1" y="914"/>
                  </a:lnTo>
                  <a:cubicBezTo>
                    <a:pt x="1" y="2048"/>
                    <a:pt x="914" y="2993"/>
                    <a:pt x="2049" y="2993"/>
                  </a:cubicBezTo>
                  <a:cubicBezTo>
                    <a:pt x="3183" y="2993"/>
                    <a:pt x="4096" y="2048"/>
                    <a:pt x="4096" y="914"/>
                  </a:cubicBezTo>
                  <a:lnTo>
                    <a:pt x="4096" y="252"/>
                  </a:lnTo>
                  <a:lnTo>
                    <a:pt x="3435" y="252"/>
                  </a:lnTo>
                  <a:cubicBezTo>
                    <a:pt x="3025" y="252"/>
                    <a:pt x="2679" y="189"/>
                    <a:pt x="2395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1120" tIns="59760" rIns="51120" bIns="5976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" name="Google Shape;776;p48"/>
          <p:cNvGrpSpPr/>
          <p:nvPr/>
        </p:nvGrpSpPr>
        <p:grpSpPr>
          <a:xfrm>
            <a:off x="3224520" y="3012120"/>
            <a:ext cx="468360" cy="467280"/>
            <a:chOff x="3224520" y="3012120"/>
            <a:chExt cx="468360" cy="467280"/>
          </a:xfrm>
        </p:grpSpPr>
        <p:sp>
          <p:nvSpPr>
            <p:cNvPr id="157" name="Google Shape;777;p48"/>
            <p:cNvSpPr/>
            <p:nvPr/>
          </p:nvSpPr>
          <p:spPr>
            <a:xfrm>
              <a:off x="3224520" y="3256560"/>
              <a:ext cx="226440" cy="222840"/>
            </a:xfrm>
            <a:custGeom>
              <a:avLst/>
              <a:gdLst>
                <a:gd name="textAreaLeft" fmla="*/ 0 w 226440"/>
                <a:gd name="textAreaRight" fmla="*/ 226800 w 226440"/>
                <a:gd name="textAreaTop" fmla="*/ 0 h 222840"/>
                <a:gd name="textAreaBottom" fmla="*/ 223200 h 222840"/>
              </a:gdLst>
              <a:ahLst/>
              <a:cxnLst/>
              <a:rect l="textAreaLeft" t="textAreaTop" r="textAreaRight" b="textAreaBottom"/>
              <a:pathLst>
                <a:path w="5671" h="5577">
                  <a:moveTo>
                    <a:pt x="4190" y="1"/>
                  </a:moveTo>
                  <a:cubicBezTo>
                    <a:pt x="4001" y="316"/>
                    <a:pt x="3970" y="725"/>
                    <a:pt x="4127" y="1040"/>
                  </a:cubicBezTo>
                  <a:lnTo>
                    <a:pt x="3497" y="1670"/>
                  </a:lnTo>
                  <a:cubicBezTo>
                    <a:pt x="3345" y="1589"/>
                    <a:pt x="3194" y="1550"/>
                    <a:pt x="3047" y="1550"/>
                  </a:cubicBezTo>
                  <a:cubicBezTo>
                    <a:pt x="2797" y="1550"/>
                    <a:pt x="2561" y="1661"/>
                    <a:pt x="2363" y="1859"/>
                  </a:cubicBezTo>
                  <a:lnTo>
                    <a:pt x="378" y="3813"/>
                  </a:lnTo>
                  <a:cubicBezTo>
                    <a:pt x="0" y="4222"/>
                    <a:pt x="0" y="4884"/>
                    <a:pt x="378" y="5293"/>
                  </a:cubicBezTo>
                  <a:cubicBezTo>
                    <a:pt x="583" y="5482"/>
                    <a:pt x="851" y="5577"/>
                    <a:pt x="1115" y="5577"/>
                  </a:cubicBezTo>
                  <a:cubicBezTo>
                    <a:pt x="1378" y="5577"/>
                    <a:pt x="1638" y="5482"/>
                    <a:pt x="1827" y="5293"/>
                  </a:cubicBezTo>
                  <a:lnTo>
                    <a:pt x="3812" y="3309"/>
                  </a:lnTo>
                  <a:cubicBezTo>
                    <a:pt x="4096" y="3025"/>
                    <a:pt x="4190" y="2553"/>
                    <a:pt x="4001" y="2143"/>
                  </a:cubicBezTo>
                  <a:lnTo>
                    <a:pt x="4631" y="1513"/>
                  </a:lnTo>
                  <a:cubicBezTo>
                    <a:pt x="4789" y="1576"/>
                    <a:pt x="4915" y="1607"/>
                    <a:pt x="5072" y="1607"/>
                  </a:cubicBezTo>
                  <a:cubicBezTo>
                    <a:pt x="5261" y="1607"/>
                    <a:pt x="5450" y="1544"/>
                    <a:pt x="5671" y="1418"/>
                  </a:cubicBezTo>
                  <a:cubicBezTo>
                    <a:pt x="5041" y="1040"/>
                    <a:pt x="4568" y="568"/>
                    <a:pt x="4190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0920" tIns="91440" rIns="7092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Google Shape;778;p48"/>
            <p:cNvSpPr/>
            <p:nvPr/>
          </p:nvSpPr>
          <p:spPr>
            <a:xfrm>
              <a:off x="3391920" y="3012120"/>
              <a:ext cx="300960" cy="29952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299520"/>
                <a:gd name="textAreaBottom" fmla="*/ 299880 h 299520"/>
              </a:gdLst>
              <a:ahLst/>
              <a:cxnLst/>
              <a:rect l="textAreaLeft" t="textAreaTop" r="textAreaRight" b="textAreaBottom"/>
              <a:pathLst>
                <a:path w="7530" h="7499">
                  <a:moveTo>
                    <a:pt x="3718" y="1387"/>
                  </a:moveTo>
                  <a:cubicBezTo>
                    <a:pt x="4253" y="1387"/>
                    <a:pt x="4726" y="1859"/>
                    <a:pt x="4726" y="2427"/>
                  </a:cubicBezTo>
                  <a:cubicBezTo>
                    <a:pt x="4789" y="2805"/>
                    <a:pt x="4505" y="3214"/>
                    <a:pt x="4096" y="3372"/>
                  </a:cubicBezTo>
                  <a:lnTo>
                    <a:pt x="4096" y="3750"/>
                  </a:lnTo>
                  <a:cubicBezTo>
                    <a:pt x="4096" y="3939"/>
                    <a:pt x="3938" y="4096"/>
                    <a:pt x="3749" y="4096"/>
                  </a:cubicBezTo>
                  <a:cubicBezTo>
                    <a:pt x="3560" y="4096"/>
                    <a:pt x="3403" y="3939"/>
                    <a:pt x="3403" y="3750"/>
                  </a:cubicBezTo>
                  <a:lnTo>
                    <a:pt x="3403" y="3372"/>
                  </a:lnTo>
                  <a:cubicBezTo>
                    <a:pt x="3403" y="3088"/>
                    <a:pt x="3592" y="2805"/>
                    <a:pt x="3875" y="2742"/>
                  </a:cubicBezTo>
                  <a:cubicBezTo>
                    <a:pt x="4001" y="2679"/>
                    <a:pt x="4096" y="2521"/>
                    <a:pt x="4096" y="2427"/>
                  </a:cubicBezTo>
                  <a:cubicBezTo>
                    <a:pt x="4096" y="2206"/>
                    <a:pt x="3938" y="2049"/>
                    <a:pt x="3749" y="2049"/>
                  </a:cubicBezTo>
                  <a:cubicBezTo>
                    <a:pt x="3560" y="2049"/>
                    <a:pt x="3403" y="2206"/>
                    <a:pt x="3403" y="2427"/>
                  </a:cubicBezTo>
                  <a:cubicBezTo>
                    <a:pt x="3403" y="2616"/>
                    <a:pt x="3245" y="2773"/>
                    <a:pt x="3056" y="2773"/>
                  </a:cubicBezTo>
                  <a:cubicBezTo>
                    <a:pt x="2836" y="2773"/>
                    <a:pt x="2678" y="2616"/>
                    <a:pt x="2678" y="2427"/>
                  </a:cubicBezTo>
                  <a:cubicBezTo>
                    <a:pt x="2678" y="1859"/>
                    <a:pt x="3151" y="1387"/>
                    <a:pt x="3718" y="1387"/>
                  </a:cubicBezTo>
                  <a:close/>
                  <a:moveTo>
                    <a:pt x="3749" y="4726"/>
                  </a:moveTo>
                  <a:cubicBezTo>
                    <a:pt x="3938" y="4726"/>
                    <a:pt x="4096" y="4884"/>
                    <a:pt x="4096" y="5104"/>
                  </a:cubicBezTo>
                  <a:cubicBezTo>
                    <a:pt x="4096" y="5294"/>
                    <a:pt x="3938" y="5451"/>
                    <a:pt x="3749" y="5451"/>
                  </a:cubicBezTo>
                  <a:cubicBezTo>
                    <a:pt x="3560" y="5451"/>
                    <a:pt x="3403" y="5294"/>
                    <a:pt x="3403" y="5104"/>
                  </a:cubicBezTo>
                  <a:cubicBezTo>
                    <a:pt x="3403" y="4884"/>
                    <a:pt x="3560" y="4726"/>
                    <a:pt x="3749" y="4726"/>
                  </a:cubicBezTo>
                  <a:close/>
                  <a:moveTo>
                    <a:pt x="3749" y="1"/>
                  </a:moveTo>
                  <a:cubicBezTo>
                    <a:pt x="1670" y="1"/>
                    <a:pt x="0" y="1702"/>
                    <a:pt x="0" y="3750"/>
                  </a:cubicBezTo>
                  <a:cubicBezTo>
                    <a:pt x="0" y="5829"/>
                    <a:pt x="1702" y="7499"/>
                    <a:pt x="3749" y="7499"/>
                  </a:cubicBezTo>
                  <a:cubicBezTo>
                    <a:pt x="5829" y="7499"/>
                    <a:pt x="7498" y="5798"/>
                    <a:pt x="7498" y="3750"/>
                  </a:cubicBezTo>
                  <a:cubicBezTo>
                    <a:pt x="7530" y="1670"/>
                    <a:pt x="5829" y="1"/>
                    <a:pt x="3749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9" name="Google Shape;779;p48"/>
          <p:cNvGrpSpPr/>
          <p:nvPr/>
        </p:nvGrpSpPr>
        <p:grpSpPr>
          <a:xfrm>
            <a:off x="6269400" y="1322280"/>
            <a:ext cx="465840" cy="465840"/>
            <a:chOff x="6269400" y="1322280"/>
            <a:chExt cx="465840" cy="465840"/>
          </a:xfrm>
        </p:grpSpPr>
        <p:sp>
          <p:nvSpPr>
            <p:cNvPr id="160" name="Google Shape;780;p48"/>
            <p:cNvSpPr/>
            <p:nvPr/>
          </p:nvSpPr>
          <p:spPr>
            <a:xfrm>
              <a:off x="6269400" y="1322280"/>
              <a:ext cx="465840" cy="465840"/>
            </a:xfrm>
            <a:custGeom>
              <a:avLst/>
              <a:gdLst>
                <a:gd name="textAreaLeft" fmla="*/ 0 w 465840"/>
                <a:gd name="textAreaRight" fmla="*/ 466200 w 465840"/>
                <a:gd name="textAreaTop" fmla="*/ 0 h 465840"/>
                <a:gd name="textAreaBottom" fmla="*/ 466200 h 465840"/>
              </a:gdLst>
              <a:ahLst/>
              <a:cxnLst/>
              <a:rect l="textAreaLeft" t="textAreaTop" r="textAreaRight" b="textAreaBottom"/>
              <a:pathLst>
                <a:path w="11658" h="11657">
                  <a:moveTo>
                    <a:pt x="5829" y="0"/>
                  </a:moveTo>
                  <a:cubicBezTo>
                    <a:pt x="3372" y="0"/>
                    <a:pt x="1261" y="1796"/>
                    <a:pt x="788" y="4159"/>
                  </a:cubicBezTo>
                  <a:cubicBezTo>
                    <a:pt x="347" y="4285"/>
                    <a:pt x="1" y="4694"/>
                    <a:pt x="1" y="5167"/>
                  </a:cubicBezTo>
                  <a:lnTo>
                    <a:pt x="1" y="7876"/>
                  </a:lnTo>
                  <a:cubicBezTo>
                    <a:pt x="1" y="8412"/>
                    <a:pt x="473" y="8885"/>
                    <a:pt x="1009" y="8885"/>
                  </a:cubicBezTo>
                  <a:lnTo>
                    <a:pt x="1702" y="8885"/>
                  </a:lnTo>
                  <a:cubicBezTo>
                    <a:pt x="1891" y="8885"/>
                    <a:pt x="2049" y="8727"/>
                    <a:pt x="2049" y="8538"/>
                  </a:cubicBezTo>
                  <a:lnTo>
                    <a:pt x="2049" y="4442"/>
                  </a:lnTo>
                  <a:cubicBezTo>
                    <a:pt x="2049" y="4253"/>
                    <a:pt x="1891" y="4096"/>
                    <a:pt x="1702" y="4096"/>
                  </a:cubicBezTo>
                  <a:lnTo>
                    <a:pt x="1481" y="4096"/>
                  </a:lnTo>
                  <a:cubicBezTo>
                    <a:pt x="1954" y="2111"/>
                    <a:pt x="3781" y="630"/>
                    <a:pt x="5829" y="630"/>
                  </a:cubicBezTo>
                  <a:cubicBezTo>
                    <a:pt x="7877" y="630"/>
                    <a:pt x="9673" y="2111"/>
                    <a:pt x="10145" y="4096"/>
                  </a:cubicBezTo>
                  <a:lnTo>
                    <a:pt x="9956" y="4096"/>
                  </a:lnTo>
                  <a:cubicBezTo>
                    <a:pt x="9767" y="4096"/>
                    <a:pt x="9610" y="4253"/>
                    <a:pt x="9610" y="4442"/>
                  </a:cubicBezTo>
                  <a:lnTo>
                    <a:pt x="9610" y="8538"/>
                  </a:lnTo>
                  <a:cubicBezTo>
                    <a:pt x="9610" y="8727"/>
                    <a:pt x="9767" y="8885"/>
                    <a:pt x="9956" y="8885"/>
                  </a:cubicBezTo>
                  <a:lnTo>
                    <a:pt x="10271" y="8885"/>
                  </a:lnTo>
                  <a:cubicBezTo>
                    <a:pt x="10114" y="9672"/>
                    <a:pt x="9421" y="10271"/>
                    <a:pt x="8570" y="10271"/>
                  </a:cubicBezTo>
                  <a:lnTo>
                    <a:pt x="6774" y="10271"/>
                  </a:lnTo>
                  <a:cubicBezTo>
                    <a:pt x="6617" y="9893"/>
                    <a:pt x="6270" y="9609"/>
                    <a:pt x="5829" y="9609"/>
                  </a:cubicBezTo>
                  <a:cubicBezTo>
                    <a:pt x="5262" y="9609"/>
                    <a:pt x="4789" y="10082"/>
                    <a:pt x="4789" y="10617"/>
                  </a:cubicBezTo>
                  <a:cubicBezTo>
                    <a:pt x="4789" y="11184"/>
                    <a:pt x="5262" y="11657"/>
                    <a:pt x="5829" y="11657"/>
                  </a:cubicBezTo>
                  <a:cubicBezTo>
                    <a:pt x="6270" y="11657"/>
                    <a:pt x="6648" y="11373"/>
                    <a:pt x="6774" y="10995"/>
                  </a:cubicBezTo>
                  <a:lnTo>
                    <a:pt x="8570" y="10995"/>
                  </a:lnTo>
                  <a:cubicBezTo>
                    <a:pt x="9799" y="10995"/>
                    <a:pt x="10775" y="10082"/>
                    <a:pt x="10933" y="8885"/>
                  </a:cubicBezTo>
                  <a:cubicBezTo>
                    <a:pt x="11342" y="8790"/>
                    <a:pt x="11658" y="8380"/>
                    <a:pt x="11658" y="7908"/>
                  </a:cubicBezTo>
                  <a:lnTo>
                    <a:pt x="11658" y="5198"/>
                  </a:lnTo>
                  <a:cubicBezTo>
                    <a:pt x="11658" y="4694"/>
                    <a:pt x="11311" y="4253"/>
                    <a:pt x="10870" y="4159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Google Shape;781;p48"/>
            <p:cNvSpPr/>
            <p:nvPr/>
          </p:nvSpPr>
          <p:spPr>
            <a:xfrm>
              <a:off x="6377760" y="1431720"/>
              <a:ext cx="250560" cy="246600"/>
            </a:xfrm>
            <a:custGeom>
              <a:avLst/>
              <a:gdLst>
                <a:gd name="textAreaLeft" fmla="*/ 0 w 250560"/>
                <a:gd name="textAreaRight" fmla="*/ 250920 w 250560"/>
                <a:gd name="textAreaTop" fmla="*/ 0 h 246600"/>
                <a:gd name="textAreaBottom" fmla="*/ 246960 h 246600"/>
              </a:gdLst>
              <a:ahLst/>
              <a:cxnLst/>
              <a:rect l="textAreaLeft" t="textAreaTop" r="textAreaRight" b="textAreaBottom"/>
              <a:pathLst>
                <a:path w="6270" h="6170">
                  <a:moveTo>
                    <a:pt x="3119" y="1386"/>
                  </a:moveTo>
                  <a:cubicBezTo>
                    <a:pt x="3308" y="1386"/>
                    <a:pt x="3466" y="1544"/>
                    <a:pt x="3466" y="1733"/>
                  </a:cubicBezTo>
                  <a:cubicBezTo>
                    <a:pt x="3466" y="1953"/>
                    <a:pt x="3308" y="2079"/>
                    <a:pt x="3119" y="2079"/>
                  </a:cubicBezTo>
                  <a:cubicBezTo>
                    <a:pt x="2930" y="2079"/>
                    <a:pt x="2773" y="1953"/>
                    <a:pt x="2773" y="1733"/>
                  </a:cubicBezTo>
                  <a:cubicBezTo>
                    <a:pt x="2773" y="1544"/>
                    <a:pt x="2930" y="1386"/>
                    <a:pt x="3119" y="1386"/>
                  </a:cubicBezTo>
                  <a:close/>
                  <a:moveTo>
                    <a:pt x="3119" y="2741"/>
                  </a:moveTo>
                  <a:cubicBezTo>
                    <a:pt x="3308" y="2741"/>
                    <a:pt x="3466" y="2867"/>
                    <a:pt x="3466" y="3088"/>
                  </a:cubicBezTo>
                  <a:lnTo>
                    <a:pt x="3466" y="4474"/>
                  </a:lnTo>
                  <a:cubicBezTo>
                    <a:pt x="3466" y="4663"/>
                    <a:pt x="3308" y="4820"/>
                    <a:pt x="3119" y="4820"/>
                  </a:cubicBezTo>
                  <a:cubicBezTo>
                    <a:pt x="2930" y="4820"/>
                    <a:pt x="2773" y="4663"/>
                    <a:pt x="2773" y="4474"/>
                  </a:cubicBezTo>
                  <a:lnTo>
                    <a:pt x="2773" y="3088"/>
                  </a:lnTo>
                  <a:cubicBezTo>
                    <a:pt x="2773" y="2867"/>
                    <a:pt x="2930" y="2741"/>
                    <a:pt x="3119" y="2741"/>
                  </a:cubicBezTo>
                  <a:close/>
                  <a:moveTo>
                    <a:pt x="3151" y="0"/>
                  </a:moveTo>
                  <a:cubicBezTo>
                    <a:pt x="1449" y="0"/>
                    <a:pt x="63" y="1386"/>
                    <a:pt x="63" y="3088"/>
                  </a:cubicBezTo>
                  <a:cubicBezTo>
                    <a:pt x="63" y="3592"/>
                    <a:pt x="158" y="4096"/>
                    <a:pt x="441" y="4568"/>
                  </a:cubicBezTo>
                  <a:lnTo>
                    <a:pt x="63" y="5734"/>
                  </a:lnTo>
                  <a:cubicBezTo>
                    <a:pt x="0" y="5828"/>
                    <a:pt x="0" y="5955"/>
                    <a:pt x="126" y="6081"/>
                  </a:cubicBezTo>
                  <a:cubicBezTo>
                    <a:pt x="171" y="6125"/>
                    <a:pt x="263" y="6170"/>
                    <a:pt x="357" y="6170"/>
                  </a:cubicBezTo>
                  <a:cubicBezTo>
                    <a:pt x="396" y="6170"/>
                    <a:pt x="436" y="6162"/>
                    <a:pt x="473" y="6144"/>
                  </a:cubicBezTo>
                  <a:lnTo>
                    <a:pt x="1638" y="5765"/>
                  </a:lnTo>
                  <a:cubicBezTo>
                    <a:pt x="2079" y="6049"/>
                    <a:pt x="2615" y="6144"/>
                    <a:pt x="3151" y="6144"/>
                  </a:cubicBezTo>
                  <a:cubicBezTo>
                    <a:pt x="4852" y="6144"/>
                    <a:pt x="6270" y="4789"/>
                    <a:pt x="6270" y="3088"/>
                  </a:cubicBezTo>
                  <a:cubicBezTo>
                    <a:pt x="6270" y="1386"/>
                    <a:pt x="4852" y="0"/>
                    <a:pt x="3151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8120" tIns="91440" rIns="7812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2" name="Google Shape;782;p48"/>
          <p:cNvGrpSpPr/>
          <p:nvPr/>
        </p:nvGrpSpPr>
        <p:grpSpPr>
          <a:xfrm>
            <a:off x="6267240" y="3013920"/>
            <a:ext cx="467640" cy="465120"/>
            <a:chOff x="6267240" y="3013920"/>
            <a:chExt cx="467640" cy="465120"/>
          </a:xfrm>
        </p:grpSpPr>
        <p:sp>
          <p:nvSpPr>
            <p:cNvPr id="163" name="Google Shape;783;p48"/>
            <p:cNvSpPr/>
            <p:nvPr/>
          </p:nvSpPr>
          <p:spPr>
            <a:xfrm>
              <a:off x="6461640" y="3179160"/>
              <a:ext cx="273240" cy="29988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99880"/>
                <a:gd name="textAreaBottom" fmla="*/ 300240 h 299880"/>
              </a:gdLst>
              <a:ahLst/>
              <a:cxnLst/>
              <a:rect l="textAreaLeft" t="textAreaTop" r="textAreaRight" b="textAreaBottom"/>
              <a:pathLst>
                <a:path w="6837" h="7509">
                  <a:moveTo>
                    <a:pt x="5120" y="2079"/>
                  </a:moveTo>
                  <a:cubicBezTo>
                    <a:pt x="5206" y="2079"/>
                    <a:pt x="5293" y="2111"/>
                    <a:pt x="5356" y="2174"/>
                  </a:cubicBezTo>
                  <a:cubicBezTo>
                    <a:pt x="5451" y="2268"/>
                    <a:pt x="5451" y="2458"/>
                    <a:pt x="5356" y="2647"/>
                  </a:cubicBezTo>
                  <a:lnTo>
                    <a:pt x="3308" y="4694"/>
                  </a:lnTo>
                  <a:cubicBezTo>
                    <a:pt x="3214" y="4757"/>
                    <a:pt x="3151" y="4789"/>
                    <a:pt x="3056" y="4789"/>
                  </a:cubicBezTo>
                  <a:cubicBezTo>
                    <a:pt x="2993" y="4789"/>
                    <a:pt x="2899" y="4757"/>
                    <a:pt x="2836" y="4694"/>
                  </a:cubicBezTo>
                  <a:lnTo>
                    <a:pt x="2174" y="4001"/>
                  </a:lnTo>
                  <a:cubicBezTo>
                    <a:pt x="2048" y="3907"/>
                    <a:pt x="2048" y="3655"/>
                    <a:pt x="2174" y="3529"/>
                  </a:cubicBezTo>
                  <a:cubicBezTo>
                    <a:pt x="2221" y="3481"/>
                    <a:pt x="2308" y="3458"/>
                    <a:pt x="2399" y="3458"/>
                  </a:cubicBezTo>
                  <a:cubicBezTo>
                    <a:pt x="2489" y="3458"/>
                    <a:pt x="2584" y="3481"/>
                    <a:pt x="2647" y="3529"/>
                  </a:cubicBezTo>
                  <a:lnTo>
                    <a:pt x="3056" y="3970"/>
                  </a:lnTo>
                  <a:lnTo>
                    <a:pt x="4883" y="2174"/>
                  </a:lnTo>
                  <a:cubicBezTo>
                    <a:pt x="4946" y="2111"/>
                    <a:pt x="5033" y="2079"/>
                    <a:pt x="5120" y="2079"/>
                  </a:cubicBezTo>
                  <a:close/>
                  <a:moveTo>
                    <a:pt x="1701" y="0"/>
                  </a:moveTo>
                  <a:cubicBezTo>
                    <a:pt x="725" y="0"/>
                    <a:pt x="0" y="756"/>
                    <a:pt x="0" y="1701"/>
                  </a:cubicBezTo>
                  <a:lnTo>
                    <a:pt x="0" y="4411"/>
                  </a:lnTo>
                  <a:cubicBezTo>
                    <a:pt x="0" y="5356"/>
                    <a:pt x="725" y="6112"/>
                    <a:pt x="1701" y="6112"/>
                  </a:cubicBezTo>
                  <a:lnTo>
                    <a:pt x="2048" y="6112"/>
                  </a:lnTo>
                  <a:lnTo>
                    <a:pt x="2048" y="7152"/>
                  </a:lnTo>
                  <a:cubicBezTo>
                    <a:pt x="2048" y="7309"/>
                    <a:pt x="2111" y="7435"/>
                    <a:pt x="2237" y="7467"/>
                  </a:cubicBezTo>
                  <a:cubicBezTo>
                    <a:pt x="2289" y="7493"/>
                    <a:pt x="2347" y="7508"/>
                    <a:pt x="2401" y="7508"/>
                  </a:cubicBezTo>
                  <a:cubicBezTo>
                    <a:pt x="2477" y="7508"/>
                    <a:pt x="2547" y="7478"/>
                    <a:pt x="2584" y="7404"/>
                  </a:cubicBezTo>
                  <a:lnTo>
                    <a:pt x="3844" y="6112"/>
                  </a:lnTo>
                  <a:lnTo>
                    <a:pt x="5073" y="6112"/>
                  </a:lnTo>
                  <a:cubicBezTo>
                    <a:pt x="6018" y="6112"/>
                    <a:pt x="6805" y="5356"/>
                    <a:pt x="6805" y="4411"/>
                  </a:cubicBezTo>
                  <a:lnTo>
                    <a:pt x="6805" y="1701"/>
                  </a:lnTo>
                  <a:cubicBezTo>
                    <a:pt x="6837" y="756"/>
                    <a:pt x="6049" y="0"/>
                    <a:pt x="5104" y="0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320" tIns="91440" rIns="8532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Google Shape;784;p48"/>
            <p:cNvSpPr/>
            <p:nvPr/>
          </p:nvSpPr>
          <p:spPr>
            <a:xfrm>
              <a:off x="6267240" y="3013920"/>
              <a:ext cx="300960" cy="327600"/>
            </a:xfrm>
            <a:custGeom>
              <a:avLst/>
              <a:gdLst>
                <a:gd name="textAreaLeft" fmla="*/ 0 w 300960"/>
                <a:gd name="textAreaRight" fmla="*/ 301320 w 300960"/>
                <a:gd name="textAreaTop" fmla="*/ 0 h 327600"/>
                <a:gd name="textAreaBottom" fmla="*/ 327960 h 327600"/>
              </a:gdLst>
              <a:ahLst/>
              <a:cxnLst/>
              <a:rect l="textAreaLeft" t="textAreaTop" r="textAreaRight" b="textAreaBottom"/>
              <a:pathLst>
                <a:path w="7531" h="8203">
                  <a:moveTo>
                    <a:pt x="3781" y="1356"/>
                  </a:moveTo>
                  <a:cubicBezTo>
                    <a:pt x="4317" y="1356"/>
                    <a:pt x="4789" y="1828"/>
                    <a:pt x="4789" y="2395"/>
                  </a:cubicBezTo>
                  <a:cubicBezTo>
                    <a:pt x="4789" y="2710"/>
                    <a:pt x="4632" y="3025"/>
                    <a:pt x="4411" y="3214"/>
                  </a:cubicBezTo>
                  <a:cubicBezTo>
                    <a:pt x="4254" y="3341"/>
                    <a:pt x="4128" y="3530"/>
                    <a:pt x="4128" y="3782"/>
                  </a:cubicBezTo>
                  <a:cubicBezTo>
                    <a:pt x="4128" y="3971"/>
                    <a:pt x="3970" y="4128"/>
                    <a:pt x="3781" y="4128"/>
                  </a:cubicBezTo>
                  <a:cubicBezTo>
                    <a:pt x="3592" y="4128"/>
                    <a:pt x="3434" y="3971"/>
                    <a:pt x="3434" y="3782"/>
                  </a:cubicBezTo>
                  <a:cubicBezTo>
                    <a:pt x="3434" y="3341"/>
                    <a:pt x="3624" y="2931"/>
                    <a:pt x="3970" y="2679"/>
                  </a:cubicBezTo>
                  <a:cubicBezTo>
                    <a:pt x="4065" y="2584"/>
                    <a:pt x="4096" y="2521"/>
                    <a:pt x="4096" y="2395"/>
                  </a:cubicBezTo>
                  <a:cubicBezTo>
                    <a:pt x="4096" y="2206"/>
                    <a:pt x="3939" y="2049"/>
                    <a:pt x="3750" y="2049"/>
                  </a:cubicBezTo>
                  <a:cubicBezTo>
                    <a:pt x="3529" y="2049"/>
                    <a:pt x="3371" y="2206"/>
                    <a:pt x="3371" y="2395"/>
                  </a:cubicBezTo>
                  <a:cubicBezTo>
                    <a:pt x="3371" y="2584"/>
                    <a:pt x="3214" y="2742"/>
                    <a:pt x="3025" y="2742"/>
                  </a:cubicBezTo>
                  <a:cubicBezTo>
                    <a:pt x="2836" y="2742"/>
                    <a:pt x="2678" y="2584"/>
                    <a:pt x="2678" y="2395"/>
                  </a:cubicBezTo>
                  <a:cubicBezTo>
                    <a:pt x="2741" y="1828"/>
                    <a:pt x="3214" y="1356"/>
                    <a:pt x="3781" y="1356"/>
                  </a:cubicBezTo>
                  <a:close/>
                  <a:moveTo>
                    <a:pt x="3781" y="4758"/>
                  </a:moveTo>
                  <a:cubicBezTo>
                    <a:pt x="3970" y="4758"/>
                    <a:pt x="4128" y="4916"/>
                    <a:pt x="4128" y="5105"/>
                  </a:cubicBezTo>
                  <a:cubicBezTo>
                    <a:pt x="4128" y="5294"/>
                    <a:pt x="3970" y="5451"/>
                    <a:pt x="3781" y="5451"/>
                  </a:cubicBezTo>
                  <a:cubicBezTo>
                    <a:pt x="3592" y="5451"/>
                    <a:pt x="3434" y="5294"/>
                    <a:pt x="3434" y="5105"/>
                  </a:cubicBezTo>
                  <a:cubicBezTo>
                    <a:pt x="3434" y="4916"/>
                    <a:pt x="3592" y="4758"/>
                    <a:pt x="3781" y="4758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9"/>
                    <a:pt x="0" y="1734"/>
                  </a:cubicBezTo>
                  <a:lnTo>
                    <a:pt x="0" y="5136"/>
                  </a:lnTo>
                  <a:cubicBezTo>
                    <a:pt x="0" y="5987"/>
                    <a:pt x="631" y="6649"/>
                    <a:pt x="1418" y="6806"/>
                  </a:cubicBezTo>
                  <a:lnTo>
                    <a:pt x="1418" y="7846"/>
                  </a:lnTo>
                  <a:cubicBezTo>
                    <a:pt x="1418" y="8003"/>
                    <a:pt x="1481" y="8129"/>
                    <a:pt x="1607" y="8161"/>
                  </a:cubicBezTo>
                  <a:cubicBezTo>
                    <a:pt x="1659" y="8187"/>
                    <a:pt x="1717" y="8202"/>
                    <a:pt x="1771" y="8202"/>
                  </a:cubicBezTo>
                  <a:cubicBezTo>
                    <a:pt x="1848" y="8202"/>
                    <a:pt x="1917" y="8172"/>
                    <a:pt x="1954" y="8098"/>
                  </a:cubicBezTo>
                  <a:lnTo>
                    <a:pt x="3214" y="6838"/>
                  </a:lnTo>
                  <a:lnTo>
                    <a:pt x="4096" y="6838"/>
                  </a:lnTo>
                  <a:lnTo>
                    <a:pt x="4096" y="5798"/>
                  </a:lnTo>
                  <a:cubicBezTo>
                    <a:pt x="4096" y="4475"/>
                    <a:pt x="5167" y="3404"/>
                    <a:pt x="6490" y="3404"/>
                  </a:cubicBezTo>
                  <a:lnTo>
                    <a:pt x="7530" y="3404"/>
                  </a:lnTo>
                  <a:lnTo>
                    <a:pt x="7530" y="1734"/>
                  </a:lnTo>
                  <a:cubicBezTo>
                    <a:pt x="7530" y="789"/>
                    <a:pt x="6774" y="1"/>
                    <a:pt x="5829" y="1"/>
                  </a:cubicBezTo>
                  <a:close/>
                </a:path>
              </a:pathLst>
            </a:custGeom>
            <a:solidFill>
              <a:srgbClr val="A0A0A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/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39760" y="2079000"/>
            <a:ext cx="2551320" cy="1074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500" b="1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CUATRO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2500" b="1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ENFOQUES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title"/>
          </p:nvPr>
        </p:nvSpPr>
        <p:spPr>
          <a:xfrm>
            <a:off x="3720600" y="371880"/>
            <a:ext cx="3119040" cy="83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0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Arquitectura y componentes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ubTitle"/>
          </p:nvPr>
        </p:nvSpPr>
        <p:spPr>
          <a:xfrm>
            <a:off x="3720600" y="2889000"/>
            <a:ext cx="20577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React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subTitle"/>
          </p:nvPr>
        </p:nvSpPr>
        <p:spPr>
          <a:xfrm>
            <a:off x="3720600" y="3225240"/>
            <a:ext cx="19627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Biblioteca de UI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Componentes con JSX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Más decisiones de integración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subTitle"/>
          </p:nvPr>
        </p:nvSpPr>
        <p:spPr>
          <a:xfrm>
            <a:off x="6820560" y="2889000"/>
            <a:ext cx="20577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Vue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ubTitle"/>
          </p:nvPr>
        </p:nvSpPr>
        <p:spPr>
          <a:xfrm>
            <a:off x="6820560" y="3225240"/>
            <a:ext cx="19627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Framework progresivo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Template, script y estilos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Adopción gradual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 type="subTitle"/>
          </p:nvPr>
        </p:nvSpPr>
        <p:spPr>
          <a:xfrm>
            <a:off x="3720600" y="1274400"/>
            <a:ext cx="20577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Angular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8"/>
          <p:cNvSpPr>
            <a:spLocks noGrp="1"/>
          </p:cNvSpPr>
          <p:nvPr>
            <p:ph type="subTitle"/>
          </p:nvPr>
        </p:nvSpPr>
        <p:spPr>
          <a:xfrm>
            <a:off x="3720600" y="1610640"/>
            <a:ext cx="19627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Framework integral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TypeScript y templates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Servicios e inyección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9"/>
          <p:cNvSpPr>
            <a:spLocks noGrp="1"/>
          </p:cNvSpPr>
          <p:nvPr>
            <p:ph type="subTitle"/>
          </p:nvPr>
        </p:nvSpPr>
        <p:spPr>
          <a:xfrm>
            <a:off x="6820560" y="1266480"/>
            <a:ext cx="20577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Svelte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10"/>
          <p:cNvSpPr>
            <a:spLocks noGrp="1"/>
          </p:cNvSpPr>
          <p:nvPr>
            <p:ph type="subTitle"/>
          </p:nvPr>
        </p:nvSpPr>
        <p:spPr>
          <a:xfrm>
            <a:off x="6820560" y="1602720"/>
            <a:ext cx="1962720" cy="128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Framework con compilador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HTML, script y estilos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2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Transformación al compilar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311760" y="10548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2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¿Cómo cambia el estado y se actualiza la UI?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673200" y="2226960"/>
            <a:ext cx="325152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7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REACT Y VUE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ubTitle"/>
          </p:nvPr>
        </p:nvSpPr>
        <p:spPr>
          <a:xfrm>
            <a:off x="673200" y="2743560"/>
            <a:ext cx="3251520" cy="173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React: hooks como useState.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Ejecuta componentes y reconcilia cambios.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Vue: ref y computed.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Rastrea dependencias reactivas.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subTitle"/>
          </p:nvPr>
        </p:nvSpPr>
        <p:spPr>
          <a:xfrm>
            <a:off x="4785480" y="2226960"/>
            <a:ext cx="325152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7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ANGULAR Y SVELTE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 type="subTitle"/>
          </p:nvPr>
        </p:nvSpPr>
        <p:spPr>
          <a:xfrm>
            <a:off x="4785480" y="2743560"/>
            <a:ext cx="3251520" cy="173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Angular: signals y detección de cambios.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Svelte 5: runes como $state y $derived.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4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El compilador genera actualizaciones.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ubTitle"/>
          </p:nvPr>
        </p:nvSpPr>
        <p:spPr>
          <a:xfrm>
            <a:off x="575640" y="2167560"/>
            <a:ext cx="24483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REACT / VUE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subTitle"/>
          </p:nvPr>
        </p:nvSpPr>
        <p:spPr>
          <a:xfrm>
            <a:off x="575640" y="2503800"/>
            <a:ext cx="2448360" cy="146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React: ecosistema modular.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Vue: Router y Pinia oficiales.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Vite es una opción habitual.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ubTitle"/>
          </p:nvPr>
        </p:nvSpPr>
        <p:spPr>
          <a:xfrm>
            <a:off x="3355560" y="2167560"/>
            <a:ext cx="24483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ANGULAR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subTitle"/>
          </p:nvPr>
        </p:nvSpPr>
        <p:spPr>
          <a:xfrm>
            <a:off x="3355560" y="2503800"/>
            <a:ext cx="2448360" cy="146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CLI, router y formularios.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Inyección de dependencias.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Convenciones integradas.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subTitle"/>
          </p:nvPr>
        </p:nvSpPr>
        <p:spPr>
          <a:xfrm>
            <a:off x="6119640" y="2167560"/>
            <a:ext cx="244836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SVELTE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6"/>
          <p:cNvSpPr>
            <a:spLocks noGrp="1"/>
          </p:cNvSpPr>
          <p:nvPr>
            <p:ph type="subTitle"/>
          </p:nvPr>
        </p:nvSpPr>
        <p:spPr>
          <a:xfrm>
            <a:off x="6119640" y="2503800"/>
            <a:ext cx="2448360" cy="1462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Componentes compilados.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SvelteKit añade routing y SSR.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Vite integra el desarrollo.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7"/>
          <p:cNvSpPr>
            <a:spLocks noGrp="1"/>
          </p:cNvSpPr>
          <p:nvPr>
            <p:ph type="title"/>
          </p:nvPr>
        </p:nvSpPr>
        <p:spPr>
          <a:xfrm>
            <a:off x="311760" y="12103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2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Herramientas y organización del proyecto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280"/>
          <p:cNvSpPr/>
          <p:nvPr/>
        </p:nvSpPr>
        <p:spPr>
          <a:xfrm>
            <a:off x="594360" y="4069080"/>
            <a:ext cx="7954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>
              <a:lnSpc>
                <a:spcPct val="100000"/>
              </a:lnSpc>
              <a:spcAft>
                <a:spcPts val="601"/>
              </a:spcAf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Verdana"/>
                <a:ea typeface="Arial"/>
              </a:rPr>
              <a:t>El framework no determina por sí solo la arquitectura: también influyen las herramientas elegidas.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311760" y="10548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2300" b="1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¿Cuál conviene elegir?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subTitle"/>
          </p:nvPr>
        </p:nvSpPr>
        <p:spPr>
          <a:xfrm>
            <a:off x="673200" y="2226960"/>
            <a:ext cx="325152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7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SEGÚN EL PROYECTO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ubTitle"/>
          </p:nvPr>
        </p:nvSpPr>
        <p:spPr>
          <a:xfrm>
            <a:off x="673200" y="2743560"/>
            <a:ext cx="3251520" cy="173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React: flexibilidad y ecosistema amplio.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Vue: adopción gradual y templates.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Angular: herramientas y convenciones.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Svelte: enfoque de compilación.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subTitle"/>
          </p:nvPr>
        </p:nvSpPr>
        <p:spPr>
          <a:xfrm>
            <a:off x="4785480" y="2226960"/>
            <a:ext cx="3251520" cy="463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600" b="1" u="none" strike="noStrike">
                <a:solidFill>
                  <a:srgbClr val="FF3A00"/>
                </a:solidFill>
                <a:effectLst/>
                <a:uFillTx/>
                <a:latin typeface="Verdana"/>
                <a:ea typeface="Verdana"/>
              </a:rPr>
              <a:t>SIN UN GANADOR UNIVERSAL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subTitle"/>
          </p:nvPr>
        </p:nvSpPr>
        <p:spPr>
          <a:xfrm>
            <a:off x="4785480" y="2743560"/>
            <a:ext cx="3251520" cy="173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Evaluar experiencia del equipo.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Integraciones y mantenimiento.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Complejidad de la aplicación.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1300" b="0" u="none" strike="noStrike">
                <a:solidFill>
                  <a:schemeClr val="dk1"/>
                </a:solidFill>
                <a:effectLst/>
                <a:uFillTx/>
                <a:latin typeface="Verdana"/>
                <a:ea typeface="Verdana"/>
              </a:rPr>
              <a:t>Medir rendimiento en casos equivalentes.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 hasCustomPrompt="1"/>
          </p:nvPr>
        </p:nvSpPr>
        <p:spPr>
          <a:xfrm>
            <a:off x="311760" y="125856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ts val="7999"/>
              </a:lnSpc>
              <a:buNone/>
              <a:tabLst>
                <a:tab pos="0" algn="l"/>
              </a:tabLst>
            </a:pPr>
            <a:r>
              <a:rPr lang="es" sz="44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Del concepto</a:t>
            </a:r>
            <a:endParaRPr lang="en-US" sz="440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  <a:p>
            <a:pPr indent="0" algn="ctr">
              <a:lnSpc>
                <a:spcPts val="7999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" sz="4400" b="1" u="none" strike="noStrike">
                <a:solidFill>
                  <a:schemeClr val="lt1"/>
                </a:solidFill>
                <a:effectLst/>
                <a:uFillTx/>
                <a:latin typeface="Verdana"/>
                <a:ea typeface="Verdana"/>
              </a:rPr>
              <a:t>a la práctica</a:t>
            </a:r>
            <a:endParaRPr lang="en-US" sz="4400" b="1" u="none" strike="noStrike">
              <a:solidFill>
                <a:schemeClr val="lt1"/>
              </a:solidFill>
              <a:effectLst/>
              <a:uFillTx/>
              <a:latin typeface="Verdana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ubTitle"/>
          </p:nvPr>
        </p:nvSpPr>
        <p:spPr>
          <a:xfrm>
            <a:off x="1346400" y="3453480"/>
            <a:ext cx="6450840" cy="79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p>
            <a:pPr indent="0" algn="ctr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-PE" sz="150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InventoryPro: el mismo inventario en React, Vue, Angular y Svelte.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s-PE" sz="1500" b="0" u="none" strike="noStrike">
                <a:solidFill>
                  <a:srgbClr val="FFFFFF"/>
                </a:solidFill>
                <a:effectLst/>
                <a:uFillTx/>
                <a:latin typeface="Verdana"/>
                <a:ea typeface="Verdana"/>
              </a:rPr>
              <a:t>Demostración: buscar, gestionar productos y comparar 5.000 filas con F12.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Business slid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Business slid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4844</TotalTime>
  <Application>LibreOfficeDev/26.8.0.0.alpha0$Linux_X86_64 LibreOffice_project/2c87e51eeaa2b413ff4ae097b2705eea1995d8e5</Application>
  <AppVersion>15.0000</AppVersion>
  <Words>1717</Words>
  <Paragraphs>207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Aburto Herrera Beatrice</dc:creator>
  <dc:description/>
  <dc:language>en-US</dc:language>
  <cp:lastModifiedBy>Javier More</cp:lastModifiedBy>
  <dcterms:modified xsi:type="dcterms:W3CDTF">2026-10-05T20:19:33Z</dcterms:modified>
  <cp:revision>490</cp:revision>
  <dc:subject/>
  <dc:title>Here is where your presentation begins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56</vt:r8>
  </property>
  <property fmtid="{D5CDD505-2E9C-101B-9397-08002B2CF9AE}" pid="3" name="PresentationFormat">
    <vt:lpwstr>Presentación en pantalla (16:9)</vt:lpwstr>
  </property>
  <property fmtid="{D5CDD505-2E9C-101B-9397-08002B2CF9AE}" pid="4" name="Slides">
    <vt:r8>62</vt:r8>
  </property>
</Properties>
</file>